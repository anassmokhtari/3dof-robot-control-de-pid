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62" r:id="rId3"/>
    <p:sldId id="258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59" r:id="rId26"/>
    <p:sldId id="286" r:id="rId27"/>
    <p:sldId id="287" r:id="rId28"/>
    <p:sldId id="288" r:id="rId29"/>
    <p:sldId id="289" r:id="rId30"/>
    <p:sldId id="260" r:id="rId31"/>
    <p:sldId id="290" r:id="rId32"/>
    <p:sldId id="293" r:id="rId33"/>
    <p:sldId id="294" r:id="rId34"/>
    <p:sldId id="295" r:id="rId35"/>
    <p:sldId id="291" r:id="rId36"/>
    <p:sldId id="292" r:id="rId37"/>
    <p:sldId id="261" r:id="rId38"/>
    <p:sldId id="296" r:id="rId39"/>
    <p:sldId id="26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1" clrIdx="0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303"/>
    <a:srgbClr val="636363"/>
    <a:srgbClr val="273750"/>
    <a:srgbClr val="DEDEDE"/>
    <a:srgbClr val="BFBFB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 autoAdjust="0"/>
    <p:restoredTop sz="94660"/>
  </p:normalViewPr>
  <p:slideViewPr>
    <p:cSldViewPr snapToGrid="0">
      <p:cViewPr>
        <p:scale>
          <a:sx n="100" d="100"/>
          <a:sy n="100" d="100"/>
        </p:scale>
        <p:origin x="7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29DC49-EC35-48D9-B246-ACA185C5356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D3F93-B3B9-4936-8CD4-EFA389750F2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61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D3F93-B3B9-4936-8CD4-EFA389750F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62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D3F93-B3B9-4936-8CD4-EFA389750F2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0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09360B-F608-C991-D7B1-9F81D5C57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79DE4D-199B-0155-9AC8-A0CC9D977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9804AE-8621-0D15-825D-BAE49E2F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6349-36AF-448D-8D3F-A1690A94C9D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653FD9-62EB-F52C-2A6C-0833B9531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D30C27-9663-1182-4A85-6E519330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CFF6-9BE9-479E-ABA6-ABF16857088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63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0AF8BE-A2A6-150E-CAC5-2EAEB7C10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F42277-9328-1241-BC79-6F0F71472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0A209A-3DF4-3E1C-ED1F-5F8B483B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6349-36AF-448D-8D3F-A1690A94C9D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FAD83A-30AE-2B6F-397C-D931BF19E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1901D7-F8F7-DC54-7134-7E812066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CFF6-9BE9-479E-ABA6-ABF16857088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311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0BF81D-298D-69F0-E2FB-AD23424E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DEAD9F-3EE9-3255-DB4C-85874047C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DD3F1B-C818-53E2-64AC-BD42C732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6349-36AF-448D-8D3F-A1690A94C9D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7B693E-3209-DCFD-D1E2-EC37B098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6C7F8B-51CA-4EA6-2776-7B401637C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CFF6-9BE9-479E-ABA6-ABF16857088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3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D7F51B-9632-328A-822E-C40F02072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AF0C1A-5ED6-1533-965E-4238B12F0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68C2072-9261-4E35-86A3-2898759F2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C5ABC8-E72F-C21D-78BF-A0F63F21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6349-36AF-448D-8D3F-A1690A94C9D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6C7004-3BDE-3C91-B302-4E640EB1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4F39EF-03A2-BDAE-9EC5-8F334FAC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CFF6-9BE9-479E-ABA6-ABF16857088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1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E3C14-6321-F32B-2107-7CB68C33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CE2091-E564-646D-2D08-F2D928A27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7CAF8F6-0CAA-C2D4-E273-489590CD1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A359BC7-6D6B-706C-D8DF-FF668CCCAD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C481112-72ED-2AC2-121E-F8AB4FD9A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6B6F73D-FB92-FBAB-21BE-80EEBB278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6349-36AF-448D-8D3F-A1690A94C9D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416919A-13E8-75E0-EE03-914F1074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AAD5E78-80CD-4FDE-7D16-70B88322C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CFF6-9BE9-479E-ABA6-ABF16857088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4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79BDDB-1969-0979-7BD5-D89704FD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817AA4F-5FCE-5006-D3AC-69E9D7812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6349-36AF-448D-8D3F-A1690A94C9D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5681C4B-495C-C1E3-9B5E-0EFD5E14E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10F744-F341-3A7E-5089-356B2D17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CFF6-9BE9-479E-ABA6-ABF16857088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20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04A3567-285F-0731-3452-F0D4D42F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6349-36AF-448D-8D3F-A1690A94C9D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2C3BD9-3E6E-4326-F5A4-A99ACDC6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2B07D1-1A07-D46E-C58B-0C4B57B9B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CFF6-9BE9-479E-ABA6-ABF16857088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AEF5BA-6107-39B0-DBE4-ACCEBB60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1FF800-EC4F-2F2F-24F8-02F1A36B0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30D125-FA86-493B-E403-67A0C624D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AEA11E-D5A5-6FE7-296A-3A713ACA6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6349-36AF-448D-8D3F-A1690A94C9D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AF50B9-9BDC-01E9-BEE8-0A0D5DB3B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118BE0-9BF7-EEE3-507B-6C05BA3DE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CFF6-9BE9-479E-ABA6-ABF16857088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04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063F0F-716F-779B-0C08-A50044E25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A2141E7-751E-2556-3CE8-AE0CCE2F1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35AC7A7-5638-79C3-D2A9-205F2E153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3562460-8D72-8886-5524-6FC48364A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6349-36AF-448D-8D3F-A1690A94C9D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CF4148-B9FB-B938-D975-1B4FC7DA8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443F98-97D1-E48A-0026-E68F1F274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CFF6-9BE9-479E-ABA6-ABF16857088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81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8E23D8-4C1C-D81B-DDE7-796AEB78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A3BE98-41E6-7C6D-73D7-63F70CC6F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06AE68-233E-E036-E441-BD1C1CDA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6349-36AF-448D-8D3F-A1690A94C9D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9734FC-752D-3C68-060B-B2B2AA7EF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DB7A11-4525-E61D-3E26-95DB00BD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CFF6-9BE9-479E-ABA6-ABF16857088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40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C2CC4ED-B62B-E2A0-B711-D4A7CB78D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BB1629-768F-0153-0F8D-5395720A1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5BC7BE-19B3-7924-A112-12ADB991F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6349-36AF-448D-8D3F-A1690A94C9D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DAD2C3-F123-5A9C-1AEC-A422A49C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430C3E-01E2-5241-7EE2-349E6EDE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CFF6-9BE9-479E-ABA6-ABF16857088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97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E0C87AD-3DED-6306-D2C6-58747AAC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E5F7EA-DC41-7C3A-D35B-8334E4959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8FA2FE-BAEE-F645-D4DE-481FC1724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C6349-36AF-448D-8D3F-A1690A94C9D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98489F-8F99-C96A-11B3-1F60D8BD4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6B8150-0220-630C-1C23-436F8BFFA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7CFF6-9BE9-479E-ABA6-ABF16857088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19BC05-7A6D-E211-2753-4E58F286DCAB}"/>
              </a:ext>
            </a:extLst>
          </p:cNvPr>
          <p:cNvSpPr>
            <a:spLocks/>
          </p:cNvSpPr>
          <p:nvPr/>
        </p:nvSpPr>
        <p:spPr>
          <a:xfrm>
            <a:off x="0" y="4828375"/>
            <a:ext cx="12192000" cy="2094360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A2770F5E-373F-2D90-8DAF-AB9F9753E510}"/>
              </a:ext>
            </a:extLst>
          </p:cNvPr>
          <p:cNvGrpSpPr/>
          <p:nvPr/>
        </p:nvGrpSpPr>
        <p:grpSpPr>
          <a:xfrm>
            <a:off x="483753" y="1352456"/>
            <a:ext cx="8697191" cy="4756728"/>
            <a:chOff x="483754" y="1050636"/>
            <a:chExt cx="7860146" cy="47567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0C2CB3-EFC0-C332-D80C-A3D28126445E}"/>
                </a:ext>
              </a:extLst>
            </p:cNvPr>
            <p:cNvSpPr/>
            <p:nvPr/>
          </p:nvSpPr>
          <p:spPr>
            <a:xfrm>
              <a:off x="483754" y="1050636"/>
              <a:ext cx="7860146" cy="4756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0" sx="94000" sy="94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D04EADDB-F3D2-22FF-8C39-C334478AC36D}"/>
                </a:ext>
              </a:extLst>
            </p:cNvPr>
            <p:cNvCxnSpPr>
              <a:cxnSpLocks/>
            </p:cNvCxnSpPr>
            <p:nvPr/>
          </p:nvCxnSpPr>
          <p:spPr>
            <a:xfrm>
              <a:off x="906292" y="1784698"/>
              <a:ext cx="1219200" cy="0"/>
            </a:xfrm>
            <a:prstGeom prst="line">
              <a:avLst/>
            </a:prstGeom>
            <a:ln w="19050">
              <a:solidFill>
                <a:srgbClr val="273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F44F2619-0ABD-B3D1-B67A-05E57FAA2442}"/>
                </a:ext>
              </a:extLst>
            </p:cNvPr>
            <p:cNvGrpSpPr/>
            <p:nvPr/>
          </p:nvGrpSpPr>
          <p:grpSpPr>
            <a:xfrm>
              <a:off x="7017774" y="5234078"/>
              <a:ext cx="457200" cy="91440"/>
              <a:chOff x="990600" y="5155625"/>
              <a:chExt cx="996155" cy="215900"/>
            </a:xfrm>
          </p:grpSpPr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D96A9C3E-715A-5E6B-8046-F30F6587A5F3}"/>
                  </a:ext>
                </a:extLst>
              </p:cNvPr>
              <p:cNvSpPr/>
              <p:nvPr/>
            </p:nvSpPr>
            <p:spPr>
              <a:xfrm>
                <a:off x="990600" y="5155625"/>
                <a:ext cx="223045" cy="2159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48C33BFE-7475-9617-3349-BE356C54AE5A}"/>
                  </a:ext>
                </a:extLst>
              </p:cNvPr>
              <p:cNvSpPr/>
              <p:nvPr/>
            </p:nvSpPr>
            <p:spPr>
              <a:xfrm>
                <a:off x="1377155" y="5155625"/>
                <a:ext cx="223045" cy="215900"/>
              </a:xfrm>
              <a:prstGeom prst="ellipse">
                <a:avLst/>
              </a:prstGeom>
              <a:solidFill>
                <a:srgbClr val="2737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90B30847-629C-67D9-457F-A48CABECF672}"/>
                  </a:ext>
                </a:extLst>
              </p:cNvPr>
              <p:cNvSpPr/>
              <p:nvPr/>
            </p:nvSpPr>
            <p:spPr>
              <a:xfrm>
                <a:off x="1763710" y="5155625"/>
                <a:ext cx="223045" cy="2159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F7C03507-ED34-629E-74B7-992DBC25F747}"/>
              </a:ext>
            </a:extLst>
          </p:cNvPr>
          <p:cNvGrpSpPr/>
          <p:nvPr/>
        </p:nvGrpSpPr>
        <p:grpSpPr>
          <a:xfrm>
            <a:off x="3106264" y="168384"/>
            <a:ext cx="5979473" cy="917677"/>
            <a:chOff x="3365565" y="98111"/>
            <a:chExt cx="5979473" cy="917677"/>
          </a:xfrm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30D62F37-B359-737F-E880-14D4162AA9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15" t="9781" r="9388" b="9377"/>
            <a:stretch/>
          </p:blipFill>
          <p:spPr>
            <a:xfrm>
              <a:off x="8343900" y="98111"/>
              <a:ext cx="1001138" cy="917677"/>
            </a:xfrm>
            <a:prstGeom prst="rect">
              <a:avLst/>
            </a:prstGeom>
          </p:spPr>
        </p:pic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7EE090CB-B6B5-7254-48A5-A33957676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5565" y="98111"/>
              <a:ext cx="853314" cy="917677"/>
            </a:xfrm>
            <a:prstGeom prst="rect">
              <a:avLst/>
            </a:prstGeom>
          </p:spPr>
        </p:pic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64016B8F-DCE7-18D1-2343-A06A2ACB9FB4}"/>
                </a:ext>
              </a:extLst>
            </p:cNvPr>
            <p:cNvSpPr txBox="1"/>
            <p:nvPr/>
          </p:nvSpPr>
          <p:spPr>
            <a:xfrm>
              <a:off x="4218879" y="151133"/>
              <a:ext cx="412502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200" b="1" noProof="0" dirty="0">
                  <a:solidFill>
                    <a:srgbClr val="273750"/>
                  </a:solidFill>
                  <a:latin typeface="Aptos" panose="020B0004020202020204" pitchFamily="34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Université Abdelmalek </a:t>
              </a:r>
              <a:r>
                <a:rPr lang="fr-FR" sz="1200" b="1" noProof="0" dirty="0" err="1">
                  <a:solidFill>
                    <a:srgbClr val="273750"/>
                  </a:solidFill>
                  <a:latin typeface="Aptos" panose="020B0004020202020204" pitchFamily="34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Essaâdi</a:t>
              </a:r>
              <a:endParaRPr lang="fr-FR" sz="1200" b="1" noProof="0" dirty="0">
                <a:solidFill>
                  <a:srgbClr val="273750"/>
                </a:solidFill>
                <a:latin typeface="Aptos" panose="020B0004020202020204" pitchFamily="34" charset="0"/>
                <a:ea typeface="Batang" panose="02030600000101010101" pitchFamily="18" charset="-127"/>
                <a:cs typeface="Times New Roman" panose="02020603050405020304" pitchFamily="18" charset="0"/>
              </a:endParaRPr>
            </a:p>
            <a:p>
              <a:pPr algn="ctr"/>
              <a:r>
                <a:rPr lang="fr-FR" sz="1200" b="1" noProof="0" dirty="0">
                  <a:solidFill>
                    <a:srgbClr val="273750"/>
                  </a:solidFill>
                  <a:latin typeface="Aptos" panose="020B0004020202020204" pitchFamily="34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Faculté des sciences et Techniques Al Hoceima</a:t>
              </a:r>
            </a:p>
            <a:p>
              <a:pPr algn="ctr"/>
              <a:r>
                <a:rPr lang="fr-FR" sz="1200" b="1" noProof="0" dirty="0">
                  <a:solidFill>
                    <a:srgbClr val="273750"/>
                  </a:solidFill>
                  <a:latin typeface="Aptos" panose="020B0004020202020204" pitchFamily="34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Master Science et Technique </a:t>
              </a:r>
              <a:br>
                <a:rPr lang="fr-FR" sz="1200" b="1" noProof="0" dirty="0">
                  <a:solidFill>
                    <a:srgbClr val="273750"/>
                  </a:solidFill>
                  <a:latin typeface="Aptos" panose="020B0004020202020204" pitchFamily="34" charset="0"/>
                  <a:ea typeface="Batang" panose="02030600000101010101" pitchFamily="18" charset="-127"/>
                  <a:cs typeface="Times New Roman" panose="02020603050405020304" pitchFamily="18" charset="0"/>
                </a:rPr>
              </a:br>
              <a:r>
                <a:rPr lang="fr-FR" sz="1200" b="1" noProof="0" dirty="0">
                  <a:solidFill>
                    <a:srgbClr val="273750"/>
                  </a:solidFill>
                  <a:latin typeface="Aptos" panose="020B0004020202020204" pitchFamily="34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Systèmes Embarqués et Robotique</a:t>
              </a:r>
              <a:endParaRPr lang="en-US" sz="1200" b="1" noProof="0" dirty="0">
                <a:solidFill>
                  <a:srgbClr val="273750"/>
                </a:solidFill>
                <a:latin typeface="Aptos" panose="020B0004020202020204" pitchFamily="34" charset="0"/>
                <a:ea typeface="Batang" panose="0203060000010101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B1BFEBB2-9D41-B51C-776C-149F5E3D2CAE}"/>
              </a:ext>
            </a:extLst>
          </p:cNvPr>
          <p:cNvSpPr txBox="1"/>
          <p:nvPr/>
        </p:nvSpPr>
        <p:spPr>
          <a:xfrm>
            <a:off x="849039" y="1522135"/>
            <a:ext cx="7412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273750"/>
                </a:solidFill>
                <a:latin typeface="Aptos" panose="020B0004020202020204" pitchFamily="34" charset="0"/>
              </a:rPr>
              <a:t>Module : </a:t>
            </a:r>
            <a:r>
              <a:rPr lang="fr-FR" sz="1400" dirty="0">
                <a:solidFill>
                  <a:srgbClr val="273750"/>
                </a:solidFill>
                <a:latin typeface="Aptos" panose="020B0004020202020204" pitchFamily="34" charset="0"/>
              </a:rPr>
              <a:t>Robotique 2 : Modélisation et commande de systèmes articulés, commande force position</a:t>
            </a:r>
            <a:endParaRPr lang="en-US" sz="1400" noProof="0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166A58BF-311C-FC38-AAEA-6DEC5FA58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901" y="6408895"/>
            <a:ext cx="34061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Année</a:t>
            </a:r>
            <a:r>
              <a:rPr kumimoji="0" lang="en-US" sz="1400" b="1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Aptos" panose="020B0004020202020204" pitchFamily="34" charset="0"/>
              </a:rPr>
              <a:t>U</a:t>
            </a:r>
            <a:r>
              <a:rPr kumimoji="0" lang="en-US" sz="1400" b="1" i="0" u="none" strike="noStrike" cap="none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niversitaire</a:t>
            </a:r>
            <a:r>
              <a:rPr kumimoji="0" lang="en-US" sz="1400" b="1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: 2025 - 2026</a:t>
            </a:r>
            <a:endParaRPr kumimoji="0" lang="en-US" sz="14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1024" name="ZoneTexte 1023">
            <a:extLst>
              <a:ext uri="{FF2B5EF4-FFF2-40B4-BE49-F238E27FC236}">
                <a16:creationId xmlns:a16="http://schemas.microsoft.com/office/drawing/2014/main" id="{B1FC85DC-701B-9232-E98F-A9B4EAB3B576}"/>
              </a:ext>
            </a:extLst>
          </p:cNvPr>
          <p:cNvSpPr txBox="1"/>
          <p:nvPr/>
        </p:nvSpPr>
        <p:spPr>
          <a:xfrm>
            <a:off x="819548" y="4828375"/>
            <a:ext cx="32214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273750"/>
                </a:solidFill>
                <a:latin typeface="Aptos" panose="020B0004020202020204" pitchFamily="34" charset="0"/>
                <a:cs typeface="Adobe Arabic" panose="02040503050201020203" pitchFamily="18" charset="-78"/>
              </a:rPr>
              <a:t>Présenté</a:t>
            </a:r>
            <a:r>
              <a:rPr lang="en-US" sz="1600" b="1" dirty="0">
                <a:solidFill>
                  <a:srgbClr val="273750"/>
                </a:solidFill>
                <a:latin typeface="Aptos" panose="020B0004020202020204" pitchFamily="34" charset="0"/>
                <a:cs typeface="Adobe Arabic" panose="02040503050201020203" pitchFamily="18" charset="-78"/>
              </a:rPr>
              <a:t> par :</a:t>
            </a:r>
            <a:endParaRPr lang="en-US" sz="1400" b="1" dirty="0">
              <a:solidFill>
                <a:srgbClr val="273750"/>
              </a:solidFill>
              <a:latin typeface="Aptos" panose="020B0004020202020204" pitchFamily="34" charset="0"/>
              <a:cs typeface="Adobe Arabic" panose="02040503050201020203" pitchFamily="18" charset="-78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noProof="0" dirty="0">
                <a:solidFill>
                  <a:srgbClr val="273750"/>
                </a:solidFill>
                <a:latin typeface="Aptos" panose="020B0004020202020204" pitchFamily="34" charset="0"/>
                <a:cs typeface="Adobe Arabic" panose="02040503050201020203" pitchFamily="18" charset="-78"/>
              </a:rPr>
              <a:t>MOKHTARI Anass</a:t>
            </a:r>
          </a:p>
        </p:txBody>
      </p:sp>
      <p:sp>
        <p:nvSpPr>
          <p:cNvPr id="1034" name="ZoneTexte 1033">
            <a:extLst>
              <a:ext uri="{FF2B5EF4-FFF2-40B4-BE49-F238E27FC236}">
                <a16:creationId xmlns:a16="http://schemas.microsoft.com/office/drawing/2014/main" id="{4165CE0C-1976-A661-735A-9277A81B890E}"/>
              </a:ext>
            </a:extLst>
          </p:cNvPr>
          <p:cNvSpPr txBox="1"/>
          <p:nvPr/>
        </p:nvSpPr>
        <p:spPr>
          <a:xfrm>
            <a:off x="819548" y="2345066"/>
            <a:ext cx="74126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noProof="0" dirty="0">
                <a:solidFill>
                  <a:srgbClr val="273750"/>
                </a:solidFill>
                <a:latin typeface="Aptos" panose="020B0004020202020204" pitchFamily="34" charset="0"/>
              </a:rPr>
              <a:t>Application de </a:t>
            </a:r>
            <a:r>
              <a:rPr lang="fr-FR" sz="3600" b="1" noProof="0" dirty="0">
                <a:solidFill>
                  <a:schemeClr val="accent2"/>
                </a:solidFill>
                <a:latin typeface="Aptos" panose="020B0004020202020204" pitchFamily="34" charset="0"/>
              </a:rPr>
              <a:t>l’algorithme DE </a:t>
            </a:r>
            <a:r>
              <a:rPr lang="fr-FR" sz="3600" b="1" noProof="0" dirty="0">
                <a:solidFill>
                  <a:srgbClr val="273750"/>
                </a:solidFill>
                <a:latin typeface="Aptos" panose="020B0004020202020204" pitchFamily="34" charset="0"/>
              </a:rPr>
              <a:t>sur le </a:t>
            </a:r>
            <a:r>
              <a:rPr lang="fr-FR" sz="3600" b="1" noProof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contrôleur PID </a:t>
            </a:r>
            <a:r>
              <a:rPr lang="fr-FR" sz="3600" b="1" noProof="0" dirty="0">
                <a:solidFill>
                  <a:srgbClr val="273750"/>
                </a:solidFill>
                <a:latin typeface="Aptos" panose="020B0004020202020204" pitchFamily="34" charset="0"/>
              </a:rPr>
              <a:t>pour un bras manipulateur </a:t>
            </a:r>
            <a:r>
              <a:rPr lang="fr-FR" sz="3600" b="1" noProof="0" dirty="0" err="1">
                <a:solidFill>
                  <a:srgbClr val="273750"/>
                </a:solidFill>
                <a:latin typeface="Aptos" panose="020B0004020202020204" pitchFamily="34" charset="0"/>
              </a:rPr>
              <a:t>3DDL</a:t>
            </a:r>
            <a:r>
              <a:rPr lang="fr-FR" sz="3600" b="1" noProof="0" dirty="0">
                <a:solidFill>
                  <a:srgbClr val="273750"/>
                </a:solidFill>
                <a:latin typeface="Aptos" panose="020B0004020202020204" pitchFamily="34" charset="0"/>
              </a:rPr>
              <a:t> avec </a:t>
            </a:r>
            <a:r>
              <a:rPr lang="fr-FR" sz="3600" b="1" noProof="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Modélisation géométrique inverse</a:t>
            </a:r>
            <a:endParaRPr lang="en-US" sz="3600" b="1" noProof="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E1AC825-2C9D-1EAC-14EE-7F8EAE271087}"/>
              </a:ext>
            </a:extLst>
          </p:cNvPr>
          <p:cNvSpPr txBox="1"/>
          <p:nvPr/>
        </p:nvSpPr>
        <p:spPr>
          <a:xfrm>
            <a:off x="4652803" y="4888614"/>
            <a:ext cx="20099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273750"/>
                </a:solidFill>
                <a:latin typeface="Aptos" panose="020B0004020202020204" pitchFamily="34" charset="0"/>
                <a:cs typeface="Adobe Arabic" panose="02040503050201020203" pitchFamily="18" charset="-78"/>
              </a:rPr>
              <a:t>Demandé</a:t>
            </a:r>
            <a:r>
              <a:rPr lang="en-US" sz="1600" b="1" dirty="0">
                <a:solidFill>
                  <a:srgbClr val="273750"/>
                </a:solidFill>
                <a:latin typeface="Aptos" panose="020B0004020202020204" pitchFamily="34" charset="0"/>
                <a:cs typeface="Adobe Arabic" panose="02040503050201020203" pitchFamily="18" charset="-78"/>
              </a:rPr>
              <a:t> par :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noProof="0" dirty="0">
                <a:solidFill>
                  <a:srgbClr val="273750"/>
                </a:solidFill>
                <a:latin typeface="Aptos" panose="020B0004020202020204" pitchFamily="34" charset="0"/>
                <a:cs typeface="Adobe Arabic" panose="02040503050201020203" pitchFamily="18" charset="-78"/>
              </a:rPr>
              <a:t>Mme. DIB Faiza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40E1C68F-C344-D797-4848-7F1828301C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6" r="30404" b="4212"/>
          <a:stretch>
            <a:fillRect/>
          </a:stretch>
        </p:blipFill>
        <p:spPr>
          <a:xfrm>
            <a:off x="9516739" y="921789"/>
            <a:ext cx="2283781" cy="381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74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4650D-8F03-4794-05ED-34D09790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5988DF-27CC-3208-30AD-00F66B2E34DF}"/>
              </a:ext>
            </a:extLst>
          </p:cNvPr>
          <p:cNvSpPr/>
          <p:nvPr/>
        </p:nvSpPr>
        <p:spPr>
          <a:xfrm>
            <a:off x="2517483" y="1823520"/>
            <a:ext cx="64008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  <a:endParaRPr lang="en-US" sz="2400" b="1" noProof="0" dirty="0">
              <a:latin typeface="Barlow Condensed" panose="00000506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68668B-B4D5-FDA4-8BDC-6BA7DB599324}"/>
              </a:ext>
            </a:extLst>
          </p:cNvPr>
          <p:cNvSpPr/>
          <p:nvPr/>
        </p:nvSpPr>
        <p:spPr>
          <a:xfrm>
            <a:off x="7214194" y="3282111"/>
            <a:ext cx="640080" cy="640080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F563BA-2D3E-9B12-6961-01FD532F3B27}"/>
              </a:ext>
            </a:extLst>
          </p:cNvPr>
          <p:cNvSpPr/>
          <p:nvPr/>
        </p:nvSpPr>
        <p:spPr>
          <a:xfrm>
            <a:off x="7214194" y="1823520"/>
            <a:ext cx="640080" cy="6400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B1012C-4414-EB2C-A071-0107BDE16B38}"/>
              </a:ext>
            </a:extLst>
          </p:cNvPr>
          <p:cNvSpPr/>
          <p:nvPr/>
        </p:nvSpPr>
        <p:spPr>
          <a:xfrm>
            <a:off x="2517482" y="4740702"/>
            <a:ext cx="640080" cy="6400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95DD4E-2E66-B767-E491-7BA24236B10E}"/>
              </a:ext>
            </a:extLst>
          </p:cNvPr>
          <p:cNvSpPr/>
          <p:nvPr/>
        </p:nvSpPr>
        <p:spPr>
          <a:xfrm>
            <a:off x="2517483" y="3282111"/>
            <a:ext cx="640079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36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73DA1A-4FA8-92E1-34DB-E6B6DB637552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62705E6-359E-2BE8-EF20-4D31B0CFD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56F474-9F2F-D69B-63A0-ABDD3BDFBB95}"/>
              </a:ext>
            </a:extLst>
          </p:cNvPr>
          <p:cNvSpPr/>
          <p:nvPr/>
        </p:nvSpPr>
        <p:spPr>
          <a:xfrm>
            <a:off x="4321567" y="277093"/>
            <a:ext cx="3548866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4C8D74F-0F2F-9DC6-3F28-278CF3E505C0}"/>
              </a:ext>
            </a:extLst>
          </p:cNvPr>
          <p:cNvGrpSpPr/>
          <p:nvPr/>
        </p:nvGrpSpPr>
        <p:grpSpPr>
          <a:xfrm>
            <a:off x="4472012" y="306742"/>
            <a:ext cx="3398421" cy="473654"/>
            <a:chOff x="4800793" y="306742"/>
            <a:chExt cx="3398421" cy="473654"/>
          </a:xfrm>
        </p:grpSpPr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8A811909-1991-A8AC-45A9-D08BFE27990E}"/>
                </a:ext>
              </a:extLst>
            </p:cNvPr>
            <p:cNvSpPr txBox="1"/>
            <p:nvPr/>
          </p:nvSpPr>
          <p:spPr>
            <a:xfrm>
              <a:off x="5231020" y="318731"/>
              <a:ext cx="29681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27375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Plan du Travail</a:t>
              </a:r>
            </a:p>
          </p:txBody>
        </p:sp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AEAC7A44-DAF2-FC7A-E7F7-E12A60D97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4800793" y="306742"/>
              <a:ext cx="430227" cy="430227"/>
            </a:xfrm>
            <a:prstGeom prst="rect">
              <a:avLst/>
            </a:prstGeom>
          </p:spPr>
        </p:pic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D083C875-D392-5A12-0A6B-B5EF4FA7BE03}"/>
              </a:ext>
            </a:extLst>
          </p:cNvPr>
          <p:cNvSpPr txBox="1"/>
          <p:nvPr/>
        </p:nvSpPr>
        <p:spPr>
          <a:xfrm>
            <a:off x="3379881" y="1940539"/>
            <a:ext cx="1649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Introduction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724637F-9F7D-84CE-5697-ADC95A2EA045}"/>
              </a:ext>
            </a:extLst>
          </p:cNvPr>
          <p:cNvSpPr txBox="1"/>
          <p:nvPr/>
        </p:nvSpPr>
        <p:spPr>
          <a:xfrm>
            <a:off x="3379881" y="3403699"/>
            <a:ext cx="2098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sz="2000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sz="2000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F547E39-744D-2BE3-654B-94C2DB20BBD8}"/>
              </a:ext>
            </a:extLst>
          </p:cNvPr>
          <p:cNvSpPr txBox="1"/>
          <p:nvPr/>
        </p:nvSpPr>
        <p:spPr>
          <a:xfrm>
            <a:off x="3379881" y="4856457"/>
            <a:ext cx="3201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Modélisation du système</a:t>
            </a:r>
            <a:endParaRPr lang="en-US" sz="2000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7B5E79C-604E-A0A6-9CFC-6B5F644872CE}"/>
              </a:ext>
            </a:extLst>
          </p:cNvPr>
          <p:cNvSpPr txBox="1"/>
          <p:nvPr/>
        </p:nvSpPr>
        <p:spPr>
          <a:xfrm>
            <a:off x="8166039" y="1786651"/>
            <a:ext cx="1840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Simulation et </a:t>
            </a:r>
            <a:br>
              <a:rPr lang="en-US" sz="2000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2000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Explication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3F42732-01BD-FFB1-4A76-03289C29DB19}"/>
              </a:ext>
            </a:extLst>
          </p:cNvPr>
          <p:cNvSpPr txBox="1"/>
          <p:nvPr/>
        </p:nvSpPr>
        <p:spPr>
          <a:xfrm>
            <a:off x="8134238" y="3387642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16477280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7F147-A15F-D532-1F18-BA063F7E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561AB5-232E-935E-9D8D-337036E8C224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C22BCA-3534-2A10-53FB-AB546157FA8E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E9AFF5-08EA-5947-40B0-65FF5C98BA84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A5B94-4C00-AF57-C257-E0C6E326C2BA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81BA92-1E17-FAD6-C73B-DB91C845F189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2E3050-39FB-9466-4EFA-693C2DBEECDD}"/>
              </a:ext>
            </a:extLst>
          </p:cNvPr>
          <p:cNvSpPr/>
          <p:nvPr/>
        </p:nvSpPr>
        <p:spPr>
          <a:xfrm>
            <a:off x="8008298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DD5F5D-A200-D15B-7E0D-4A5D5E8C2534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4669AA9-BEAE-8FF7-081D-4DCF2762D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2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D6CC0B4-947E-6650-5002-4CBB92588BEE}"/>
              </a:ext>
            </a:extLst>
          </p:cNvPr>
          <p:cNvSpPr txBox="1"/>
          <p:nvPr/>
        </p:nvSpPr>
        <p:spPr>
          <a:xfrm>
            <a:off x="2181419" y="351103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Introduction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1FF9103-C3ED-9D67-2C39-57BEB86063F8}"/>
              </a:ext>
            </a:extLst>
          </p:cNvPr>
          <p:cNvGrpSpPr/>
          <p:nvPr/>
        </p:nvGrpSpPr>
        <p:grpSpPr>
          <a:xfrm>
            <a:off x="454313" y="1642371"/>
            <a:ext cx="11283374" cy="4001095"/>
            <a:chOff x="428335" y="1642371"/>
            <a:chExt cx="11283374" cy="4001095"/>
          </a:xfrm>
        </p:grpSpPr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39206EEC-BF56-3DAC-0753-9307154BE6A4}"/>
                </a:ext>
              </a:extLst>
            </p:cNvPr>
            <p:cNvSpPr txBox="1"/>
            <p:nvPr/>
          </p:nvSpPr>
          <p:spPr>
            <a:xfrm>
              <a:off x="428335" y="1642371"/>
              <a:ext cx="5695373" cy="40010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fr-FR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Les bras manipulateurs à plusieurs degrés de liberté (DDL) sont largement utilisés en robotique industrielle et </a:t>
              </a:r>
              <a:r>
                <a:rPr lang="fr-FR" sz="1600" b="1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nécessitent une commande précise et robuste.</a:t>
              </a:r>
            </a:p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fr-FR" sz="1600" b="1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Le contrôleur PID est couramment employé </a:t>
              </a:r>
              <a:r>
                <a:rPr lang="fr-FR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pour sa simplicité, mais le réglage optimal de ses paramètres reste un défi.</a:t>
              </a:r>
            </a:p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fr-FR" sz="1600" b="1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L’algorithme d’évolution différentielle (DE) </a:t>
              </a:r>
              <a:r>
                <a:rPr lang="fr-FR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offre une approche efficace pour l’optimisation des paramètres de commande.</a:t>
              </a:r>
            </a:p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fr-FR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Ce travail applique l’algorithme DE à l’optimisation d’un contrôleur PID pour un bras manipulateur à trois degrés de liberté (3 DDL).La commande est basée sur la modélisation géométrique inverse afin d’assurer un suivi précis des trajectoires.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028" name="Picture 4" descr="Bras Robotisé: Innovations dans l'Industrie | TD CONCEPTION">
              <a:extLst>
                <a:ext uri="{FF2B5EF4-FFF2-40B4-BE49-F238E27FC236}">
                  <a16:creationId xmlns:a16="http://schemas.microsoft.com/office/drawing/2014/main" id="{7C4D9E30-B64D-A0ED-F962-B2599593DA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8209" y="1928419"/>
              <a:ext cx="5143500" cy="3429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0473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2EF12-F032-7784-1AB3-73DE076FD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B34D07BE-54F5-EC30-7733-9CBD660F3500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F27FB53F-6F5B-D880-EC49-03A06C684CCD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273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1083D69C-BDAE-3E54-507B-B5FE92413D16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7375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E76247DE-CB1C-E161-6557-D6CCF0B0B761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FA771904-6DAD-DF6B-E083-84BEB89EB37A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55C16B1C-2F10-5425-AF5E-1D81CE13BF1E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4D22343D-BB6D-DA61-E1A5-1CAF5B3CC7AB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018AC3AD-B39B-5C00-C2A5-9547A2703197}"/>
              </a:ext>
            </a:extLst>
          </p:cNvPr>
          <p:cNvSpPr/>
          <p:nvPr/>
        </p:nvSpPr>
        <p:spPr>
          <a:xfrm>
            <a:off x="3000701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4779A6-4F3F-B4A9-656D-2CAA56AA9181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EA0713-E548-1D96-D372-E9C6BC592E64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83832F-76B3-5FA4-9E95-95D5C0AA33FE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3B3EF0-3932-75E5-0A7C-82B07B0BF7E0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146A6D-6460-B20B-C22B-A5D7FD573ECF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36703B-7937-FEB6-3D2E-8CBBDBA5D8B2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5D7E416-92F6-E666-8F61-D0C4DC49E9FA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2437049-30E7-363C-87B7-32AFC1AA2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64" y="1860663"/>
            <a:ext cx="3486868" cy="450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E4FF0FE8-680B-7194-D990-0B3D3464C85A}"/>
              </a:ext>
            </a:extLst>
          </p:cNvPr>
          <p:cNvCxnSpPr/>
          <p:nvPr/>
        </p:nvCxnSpPr>
        <p:spPr>
          <a:xfrm flipH="1" flipV="1">
            <a:off x="4943034" y="4095629"/>
            <a:ext cx="27734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 21">
            <a:extLst>
              <a:ext uri="{FF2B5EF4-FFF2-40B4-BE49-F238E27FC236}">
                <a16:creationId xmlns:a16="http://schemas.microsoft.com/office/drawing/2014/main" id="{5627A9E9-EF5F-A2F9-9F54-4DEA301C1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8" r="24005"/>
          <a:stretch>
            <a:fillRect/>
          </a:stretch>
        </p:blipFill>
        <p:spPr>
          <a:xfrm>
            <a:off x="7903591" y="1985709"/>
            <a:ext cx="3294358" cy="425286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FC2FE9D-1594-BA65-DECB-D2B5A083BE29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F53003E7-B8C5-96D7-B695-D152EA6F9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00453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8CAAB-3CE5-2BC3-D8D4-7E152820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CFBDB872-6625-6C98-7B19-656B0D849F23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08C5ED4-BD9F-01BF-3639-D34549A531B4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273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5B21EED0-9292-51A4-C730-6F88A1401E0B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7375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11F68A53-1A30-508D-C58A-C5217A420F79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C3B97D81-B165-EC6A-F52B-26EA875D1D3D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5B737310-5766-59E0-F9FA-AA2671B51362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6073B135-DB87-E153-758D-4350836A1716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E5F554C3-B5B9-7195-5474-EDB835E8DB21}"/>
              </a:ext>
            </a:extLst>
          </p:cNvPr>
          <p:cNvSpPr/>
          <p:nvPr/>
        </p:nvSpPr>
        <p:spPr>
          <a:xfrm>
            <a:off x="3000701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9AA37B-F8CA-3CC1-DAD5-88C902B1DF8B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09F282-B9E6-1248-0F51-5AD7742379E9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8B43BA-0F42-5FC3-134C-64D88780C31C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4C1C4C-B8D9-F6D7-B7C7-A9AF48877207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C4689A-46A7-C9B1-B382-B79DA480FF99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7AD8F-D429-CBE1-02E3-A513FC6D5A76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A217FEB-ABCC-2063-2802-CB4DD35A4B46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99E742B-D98E-4FFC-3AB4-6AD48F8BC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500" y="1719170"/>
            <a:ext cx="3486868" cy="450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B8C8A791-79BC-09F4-3B76-862D97D12C16}"/>
              </a:ext>
            </a:extLst>
          </p:cNvPr>
          <p:cNvCxnSpPr>
            <a:cxnSpLocks/>
          </p:cNvCxnSpPr>
          <p:nvPr/>
        </p:nvCxnSpPr>
        <p:spPr>
          <a:xfrm flipH="1">
            <a:off x="6428509" y="4095629"/>
            <a:ext cx="128792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au 1">
                <a:extLst>
                  <a:ext uri="{FF2B5EF4-FFF2-40B4-BE49-F238E27FC236}">
                    <a16:creationId xmlns:a16="http://schemas.microsoft.com/office/drawing/2014/main" id="{7A68E6DF-CB0F-2877-C77A-8636E4B2C0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9147724"/>
                  </p:ext>
                </p:extLst>
              </p:nvPr>
            </p:nvGraphicFramePr>
            <p:xfrm>
              <a:off x="672632" y="3201522"/>
              <a:ext cx="5382215" cy="15415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95201">
                      <a:extLst>
                        <a:ext uri="{9D8B030D-6E8A-4147-A177-3AD203B41FA5}">
                          <a16:colId xmlns:a16="http://schemas.microsoft.com/office/drawing/2014/main" val="2724001902"/>
                        </a:ext>
                      </a:extLst>
                    </a:gridCol>
                    <a:gridCol w="1057685">
                      <a:extLst>
                        <a:ext uri="{9D8B030D-6E8A-4147-A177-3AD203B41FA5}">
                          <a16:colId xmlns:a16="http://schemas.microsoft.com/office/drawing/2014/main" val="1356554930"/>
                        </a:ext>
                      </a:extLst>
                    </a:gridCol>
                    <a:gridCol w="1076443">
                      <a:extLst>
                        <a:ext uri="{9D8B030D-6E8A-4147-A177-3AD203B41FA5}">
                          <a16:colId xmlns:a16="http://schemas.microsoft.com/office/drawing/2014/main" val="1296120760"/>
                        </a:ext>
                      </a:extLst>
                    </a:gridCol>
                    <a:gridCol w="1076443">
                      <a:extLst>
                        <a:ext uri="{9D8B030D-6E8A-4147-A177-3AD203B41FA5}">
                          <a16:colId xmlns:a16="http://schemas.microsoft.com/office/drawing/2014/main" val="2170847909"/>
                        </a:ext>
                      </a:extLst>
                    </a:gridCol>
                    <a:gridCol w="1076443">
                      <a:extLst>
                        <a:ext uri="{9D8B030D-6E8A-4147-A177-3AD203B41FA5}">
                          <a16:colId xmlns:a16="http://schemas.microsoft.com/office/drawing/2014/main" val="287965894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291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 → 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atin typeface="Adobe Caslon Pro" panose="0205050205050A0204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3078474"/>
                      </a:ext>
                    </a:extLst>
                  </a:tr>
                  <a:tr h="3742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 → 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6814940"/>
                      </a:ext>
                    </a:extLst>
                  </a:tr>
                  <a:tr h="3107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/>
                            <a:t>2 → 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2232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au 1">
                <a:extLst>
                  <a:ext uri="{FF2B5EF4-FFF2-40B4-BE49-F238E27FC236}">
                    <a16:creationId xmlns:a16="http://schemas.microsoft.com/office/drawing/2014/main" id="{7A68E6DF-CB0F-2877-C77A-8636E4B2C0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9147724"/>
                  </p:ext>
                </p:extLst>
              </p:nvPr>
            </p:nvGraphicFramePr>
            <p:xfrm>
              <a:off x="672632" y="3201522"/>
              <a:ext cx="5382215" cy="15415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95201">
                      <a:extLst>
                        <a:ext uri="{9D8B030D-6E8A-4147-A177-3AD203B41FA5}">
                          <a16:colId xmlns:a16="http://schemas.microsoft.com/office/drawing/2014/main" val="2724001902"/>
                        </a:ext>
                      </a:extLst>
                    </a:gridCol>
                    <a:gridCol w="1057685">
                      <a:extLst>
                        <a:ext uri="{9D8B030D-6E8A-4147-A177-3AD203B41FA5}">
                          <a16:colId xmlns:a16="http://schemas.microsoft.com/office/drawing/2014/main" val="1356554930"/>
                        </a:ext>
                      </a:extLst>
                    </a:gridCol>
                    <a:gridCol w="1076443">
                      <a:extLst>
                        <a:ext uri="{9D8B030D-6E8A-4147-A177-3AD203B41FA5}">
                          <a16:colId xmlns:a16="http://schemas.microsoft.com/office/drawing/2014/main" val="1296120760"/>
                        </a:ext>
                      </a:extLst>
                    </a:gridCol>
                    <a:gridCol w="1076443">
                      <a:extLst>
                        <a:ext uri="{9D8B030D-6E8A-4147-A177-3AD203B41FA5}">
                          <a16:colId xmlns:a16="http://schemas.microsoft.com/office/drawing/2014/main" val="2170847909"/>
                        </a:ext>
                      </a:extLst>
                    </a:gridCol>
                    <a:gridCol w="1076443">
                      <a:extLst>
                        <a:ext uri="{9D8B030D-6E8A-4147-A177-3AD203B41FA5}">
                          <a16:colId xmlns:a16="http://schemas.microsoft.com/office/drawing/2014/main" val="287965894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4023" t="-58333" r="-305747" b="-4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705" t="-58333" r="-202273" b="-4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58333" r="-101130" b="-4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58333" r="-1130" b="-4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291863"/>
                      </a:ext>
                    </a:extLst>
                  </a:tr>
                  <a:tr h="4050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 → 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705" t="-141791" r="-202273" b="-3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41791" r="-101130" b="-3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41791" r="-1130" b="-3119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3078474"/>
                      </a:ext>
                    </a:extLst>
                  </a:tr>
                  <a:tr h="4050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 → 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4023" t="-241791" r="-305747" b="-2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705" t="-241791" r="-202273" b="-2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41791" r="-1130" b="-2119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68149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/>
                            <a:t>2 → 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4023" t="-381667" r="-305747" b="-1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705" t="-381667" r="-202273" b="-1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81667" r="-1130" b="-13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22322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EC2955D-07ED-B717-F0EA-68FC7F8E5ADC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FE48485-E7E9-36A3-3650-31B56A00F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18968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54446-CBAA-97A9-215B-C1B59B74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033AD8EA-AE48-AAEF-1FB1-A352A98AC848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81F7EC7A-6762-FAF2-F5E1-843681FB81DB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273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94BE68F3-91E9-B663-4039-153F1707D26E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7375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9F04CE0C-7FC2-1743-CB92-28D2354C9744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B99B717F-993F-D00C-6BFE-D2C7FA9A1F49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C89985BA-420F-AA9D-015E-AF3D50C1F21C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99FFA12A-3BAF-EBB1-7F5B-6BCD645FED89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1018B786-8D5D-8D9A-6395-FD3CBFB1647D}"/>
              </a:ext>
            </a:extLst>
          </p:cNvPr>
          <p:cNvSpPr/>
          <p:nvPr/>
        </p:nvSpPr>
        <p:spPr>
          <a:xfrm>
            <a:off x="3000701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3169AC-3614-3AF6-0007-049351517E86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F4A8D8-2415-6793-FDF2-4E0D9C2683CD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46D81D-2499-B542-A9DE-43C0C8494CF5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075BFA-B436-0041-2353-6083AED46952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77196F-5990-1024-9BB4-6C65B1AD6A54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7D2741-3BA0-745F-A8CD-78088779514C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13B8A6F-E14C-3CAF-EACA-DD0151E3343A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au 1">
                <a:extLst>
                  <a:ext uri="{FF2B5EF4-FFF2-40B4-BE49-F238E27FC236}">
                    <a16:creationId xmlns:a16="http://schemas.microsoft.com/office/drawing/2014/main" id="{ED30F9A5-87EF-E32A-8231-E2EFE5A21A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5212863"/>
                  </p:ext>
                </p:extLst>
              </p:nvPr>
            </p:nvGraphicFramePr>
            <p:xfrm>
              <a:off x="3645163" y="2000538"/>
              <a:ext cx="4318411" cy="132926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8733">
                      <a:extLst>
                        <a:ext uri="{9D8B030D-6E8A-4147-A177-3AD203B41FA5}">
                          <a16:colId xmlns:a16="http://schemas.microsoft.com/office/drawing/2014/main" val="2724001902"/>
                        </a:ext>
                      </a:extLst>
                    </a:gridCol>
                    <a:gridCol w="848632">
                      <a:extLst>
                        <a:ext uri="{9D8B030D-6E8A-4147-A177-3AD203B41FA5}">
                          <a16:colId xmlns:a16="http://schemas.microsoft.com/office/drawing/2014/main" val="1356554930"/>
                        </a:ext>
                      </a:extLst>
                    </a:gridCol>
                    <a:gridCol w="863682">
                      <a:extLst>
                        <a:ext uri="{9D8B030D-6E8A-4147-A177-3AD203B41FA5}">
                          <a16:colId xmlns:a16="http://schemas.microsoft.com/office/drawing/2014/main" val="1296120760"/>
                        </a:ext>
                      </a:extLst>
                    </a:gridCol>
                    <a:gridCol w="838845">
                      <a:extLst>
                        <a:ext uri="{9D8B030D-6E8A-4147-A177-3AD203B41FA5}">
                          <a16:colId xmlns:a16="http://schemas.microsoft.com/office/drawing/2014/main" val="2170847909"/>
                        </a:ext>
                      </a:extLst>
                    </a:gridCol>
                    <a:gridCol w="888519">
                      <a:extLst>
                        <a:ext uri="{9D8B030D-6E8A-4147-A177-3AD203B41FA5}">
                          <a16:colId xmlns:a16="http://schemas.microsoft.com/office/drawing/2014/main" val="2879658947"/>
                        </a:ext>
                      </a:extLst>
                    </a:gridCol>
                  </a:tblGrid>
                  <a:tr h="302430">
                    <a:tc>
                      <a:txBody>
                        <a:bodyPr/>
                        <a:lstStyle/>
                        <a:p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291863"/>
                      </a:ext>
                    </a:extLst>
                  </a:tr>
                  <a:tr h="358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0 → 1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sz="14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latin typeface="Adobe Caslon Pro" panose="0205050205050A0204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3078474"/>
                      </a:ext>
                    </a:extLst>
                  </a:tr>
                  <a:tr h="3614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1 → 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sz="14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6814940"/>
                      </a:ext>
                    </a:extLst>
                  </a:tr>
                  <a:tr h="3024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dirty="0"/>
                            <a:t>2 → 3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2232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au 1">
                <a:extLst>
                  <a:ext uri="{FF2B5EF4-FFF2-40B4-BE49-F238E27FC236}">
                    <a16:creationId xmlns:a16="http://schemas.microsoft.com/office/drawing/2014/main" id="{ED30F9A5-87EF-E32A-8231-E2EFE5A21A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5212863"/>
                  </p:ext>
                </p:extLst>
              </p:nvPr>
            </p:nvGraphicFramePr>
            <p:xfrm>
              <a:off x="3645163" y="2000538"/>
              <a:ext cx="4318411" cy="132926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8733">
                      <a:extLst>
                        <a:ext uri="{9D8B030D-6E8A-4147-A177-3AD203B41FA5}">
                          <a16:colId xmlns:a16="http://schemas.microsoft.com/office/drawing/2014/main" val="2724001902"/>
                        </a:ext>
                      </a:extLst>
                    </a:gridCol>
                    <a:gridCol w="848632">
                      <a:extLst>
                        <a:ext uri="{9D8B030D-6E8A-4147-A177-3AD203B41FA5}">
                          <a16:colId xmlns:a16="http://schemas.microsoft.com/office/drawing/2014/main" val="1356554930"/>
                        </a:ext>
                      </a:extLst>
                    </a:gridCol>
                    <a:gridCol w="863682">
                      <a:extLst>
                        <a:ext uri="{9D8B030D-6E8A-4147-A177-3AD203B41FA5}">
                          <a16:colId xmlns:a16="http://schemas.microsoft.com/office/drawing/2014/main" val="1296120760"/>
                        </a:ext>
                      </a:extLst>
                    </a:gridCol>
                    <a:gridCol w="838845">
                      <a:extLst>
                        <a:ext uri="{9D8B030D-6E8A-4147-A177-3AD203B41FA5}">
                          <a16:colId xmlns:a16="http://schemas.microsoft.com/office/drawing/2014/main" val="2170847909"/>
                        </a:ext>
                      </a:extLst>
                    </a:gridCol>
                    <a:gridCol w="888519">
                      <a:extLst>
                        <a:ext uri="{9D8B030D-6E8A-4147-A177-3AD203B41FA5}">
                          <a16:colId xmlns:a16="http://schemas.microsoft.com/office/drawing/2014/main" val="2879658947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571" t="-40000" r="-305714" b="-44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704" t="-40000" r="-201408" b="-44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9420" t="-40000" r="-107246" b="-44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986" t="-40000" r="-1370" b="-44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291863"/>
                      </a:ext>
                    </a:extLst>
                  </a:tr>
                  <a:tr h="358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0 → 1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704" t="-118644" r="-201408" b="-277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9420" t="-118644" r="-107246" b="-277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986" t="-118644" r="-1370" b="-2779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3078474"/>
                      </a:ext>
                    </a:extLst>
                  </a:tr>
                  <a:tr h="3614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1 → 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571" t="-215000" r="-305714" b="-1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704" t="-215000" r="-201408" b="-1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986" t="-215000" r="-1370" b="-17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681494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dirty="0"/>
                            <a:t>2 → 3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571" t="-378000" r="-305714" b="-1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704" t="-378000" r="-201408" b="-1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986" t="-378000" r="-1370" b="-10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223223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5C7A9BC3-116C-BF2B-1B29-B0BC6F7FFE50}"/>
              </a:ext>
            </a:extLst>
          </p:cNvPr>
          <p:cNvCxnSpPr>
            <a:cxnSpLocks/>
          </p:cNvCxnSpPr>
          <p:nvPr/>
        </p:nvCxnSpPr>
        <p:spPr>
          <a:xfrm>
            <a:off x="6095999" y="3578671"/>
            <a:ext cx="0" cy="4094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32BF71CB-3024-A9FD-9658-1B345BC23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114" y="3988078"/>
            <a:ext cx="7618292" cy="21844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B0E88F0-4198-7A27-DB40-FBB80B208940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7A95C210-6E9F-41D1-4066-99EBBBA1C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54241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3537C-8D7E-3DDA-6039-35882A7E3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7FA9C67C-7BFE-9BDD-7D2F-3C1ACEF387C6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BC42FE1C-8D1E-EEF7-5DED-C974320465B4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273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2F45E0F1-A8B4-09AB-DDE7-786CB2811EAD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7375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9756D1A0-6C4F-E70E-C5A2-82FE31417E31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B391C237-3008-89F9-110C-C33C798319AE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6D58AA78-18E0-9EBD-B32A-7B36895C6921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55DF8A15-436A-5712-6D56-8965AB42EE1B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B84E74AF-4BAC-E3EE-22F8-86EE08B1B35D}"/>
              </a:ext>
            </a:extLst>
          </p:cNvPr>
          <p:cNvSpPr/>
          <p:nvPr/>
        </p:nvSpPr>
        <p:spPr>
          <a:xfrm>
            <a:off x="3000701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3FF5AE-C2C3-98DA-52A5-D8A300A6BD0C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DE84F2-0852-F39F-8D19-9D5575D45A36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AA16CF-7D9B-BAB3-7A90-9EB29E08B003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D2C943-F414-E121-7A1B-1894034DB656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9AF0F1-84C3-9874-17AE-DECB85FF3E13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5F4B11-452A-12B7-3076-A3AC58EBD04F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113790B-32CA-8077-257A-692A795DD77B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17A81C2-9B1B-FD86-F14A-4A4B630D4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02" y="1918099"/>
            <a:ext cx="3892648" cy="1388340"/>
          </a:xfrm>
          <a:prstGeom prst="rect">
            <a:avLst/>
          </a:prstGeom>
          <a:ln>
            <a:solidFill>
              <a:srgbClr val="FFFFFF"/>
            </a:solidFill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E5654C14-32CE-B640-C6A0-CA0309AD2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86" y="3474386"/>
            <a:ext cx="3715172" cy="1210056"/>
          </a:xfrm>
          <a:prstGeom prst="rect">
            <a:avLst/>
          </a:prstGeom>
          <a:ln>
            <a:solidFill>
              <a:srgbClr val="FFFFFF"/>
            </a:solidFill>
          </a:ln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3FCFEFCC-9850-C99F-7713-9361B6754A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35"/>
          <a:stretch>
            <a:fillRect/>
          </a:stretch>
        </p:blipFill>
        <p:spPr>
          <a:xfrm>
            <a:off x="655099" y="4702788"/>
            <a:ext cx="3523054" cy="1350635"/>
          </a:xfrm>
          <a:prstGeom prst="rect">
            <a:avLst/>
          </a:prstGeom>
          <a:ln>
            <a:solidFill>
              <a:srgbClr val="FFFFFF"/>
            </a:solidFill>
          </a:ln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B7793D5D-8AD4-36FA-28D5-FCCFD77798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660"/>
          <a:stretch>
            <a:fillRect/>
          </a:stretch>
        </p:blipFill>
        <p:spPr>
          <a:xfrm>
            <a:off x="4950692" y="2379281"/>
            <a:ext cx="6254149" cy="1388340"/>
          </a:xfrm>
          <a:prstGeom prst="rect">
            <a:avLst/>
          </a:prstGeom>
          <a:ln>
            <a:solidFill>
              <a:srgbClr val="FFFFFF"/>
            </a:solidFill>
          </a:ln>
        </p:spPr>
      </p:pic>
      <p:grpSp>
        <p:nvGrpSpPr>
          <p:cNvPr id="35" name="Groupe 34">
            <a:extLst>
              <a:ext uri="{FF2B5EF4-FFF2-40B4-BE49-F238E27FC236}">
                <a16:creationId xmlns:a16="http://schemas.microsoft.com/office/drawing/2014/main" id="{E56382EA-F80D-4E47-BD44-2A8C5555D343}"/>
              </a:ext>
            </a:extLst>
          </p:cNvPr>
          <p:cNvGrpSpPr/>
          <p:nvPr/>
        </p:nvGrpSpPr>
        <p:grpSpPr>
          <a:xfrm>
            <a:off x="4678976" y="4203448"/>
            <a:ext cx="7033839" cy="1216924"/>
            <a:chOff x="4839233" y="3549793"/>
            <a:chExt cx="7033839" cy="1216924"/>
          </a:xfrm>
        </p:grpSpPr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A5E337B2-515C-0F04-5129-DAF4BA74F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1531" b="38892"/>
            <a:stretch>
              <a:fillRect/>
            </a:stretch>
          </p:blipFill>
          <p:spPr>
            <a:xfrm>
              <a:off x="4839233" y="4008125"/>
              <a:ext cx="647790" cy="300260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</p:pic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D3D286E2-B15B-B057-8370-7E27F0553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-6823" b="-6853"/>
            <a:stretch>
              <a:fillRect/>
            </a:stretch>
          </p:blipFill>
          <p:spPr>
            <a:xfrm>
              <a:off x="5578255" y="3549793"/>
              <a:ext cx="6294817" cy="1216924"/>
            </a:xfrm>
            <a:prstGeom prst="rect">
              <a:avLst/>
            </a:prstGeom>
          </p:spPr>
        </p:pic>
      </p:grpSp>
      <p:pic>
        <p:nvPicPr>
          <p:cNvPr id="38" name="Image 37">
            <a:extLst>
              <a:ext uri="{FF2B5EF4-FFF2-40B4-BE49-F238E27FC236}">
                <a16:creationId xmlns:a16="http://schemas.microsoft.com/office/drawing/2014/main" id="{22C68564-CD68-5CE8-0827-85C2FCF1DC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8586" y="5562292"/>
            <a:ext cx="2276708" cy="435827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3157C21-EF0D-D26C-EBDB-9F21EC0842A5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2977C8CA-AC91-CCCD-66B0-396620B98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76385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B5F66-34A3-E148-CD87-F8FDC609C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537DA04B-EBC0-656C-0CB9-7E3E6081B4D3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A914918-9D33-9AE5-BB2D-56B853DF7C9C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C17B5CA0-C026-826B-788F-1CAECD1F9506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5B2508BF-1A48-5D8F-F349-045324B4D61B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76E7217A-46F0-1872-3819-7E717AA9C8E2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078C1A36-8BB0-4AB1-0D3A-2946F68F2B11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9AEB7686-3EC6-300B-6C43-B1277696A15F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568269DF-CA33-BAED-619B-9435035D9051}"/>
              </a:ext>
            </a:extLst>
          </p:cNvPr>
          <p:cNvSpPr/>
          <p:nvPr/>
        </p:nvSpPr>
        <p:spPr>
          <a:xfrm>
            <a:off x="5758649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957543-9C4C-4E19-696A-4A4C3FFF9B3D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014F84-EF39-29F9-479E-5C2D4DB6BBDD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E9DB93-8966-08A6-D9D2-4A7A98F84571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15BD52-09AD-F94D-3F1B-D5E00F4ED1E4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8E7E5D-C8AF-891C-62E2-1ADA12A9494A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4FB134-ED20-6A45-F803-44D717B078A7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B948073-CB8A-F980-58E2-5FE0DE663C1D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AE6EA2D-B1E4-4DDE-795E-752C4092D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241" y="2686722"/>
            <a:ext cx="4056816" cy="265853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96527E5-ACBA-FBF4-CBE0-07FA5F50BB22}"/>
              </a:ext>
            </a:extLst>
          </p:cNvPr>
          <p:cNvSpPr txBox="1"/>
          <p:nvPr/>
        </p:nvSpPr>
        <p:spPr>
          <a:xfrm>
            <a:off x="1921028" y="1852100"/>
            <a:ext cx="3116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Méthode de Paul :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9D27FB-2B46-8710-48B6-DBA13DC7EA91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9BC7AC7-27E5-D00D-E6C9-339DA8BB1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24335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CF4A8-B7E3-EDF4-6156-567F3556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5DBB1A2D-28BF-8D2A-9443-599DF26DF63E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CC398FCA-3CD4-9193-99CD-7F04D0EB6933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993E267D-0120-5B8D-BF30-767F017C62AB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7566B57C-23C7-4BE0-41CC-9AD4E298DE14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132C6F7F-B290-08F0-B820-B649854FA241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2DDF1913-8930-A034-84CC-BDD36689B9A9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4865978A-AC8D-432C-09E7-541E3DE8CECB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63524BD6-5863-6F0A-C2E0-9EE3CECEA173}"/>
              </a:ext>
            </a:extLst>
          </p:cNvPr>
          <p:cNvSpPr/>
          <p:nvPr/>
        </p:nvSpPr>
        <p:spPr>
          <a:xfrm>
            <a:off x="5758649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61906-60DB-86B6-5BAC-CB51E0F9B014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665545-A9DD-5229-8DFC-90F5C49D854F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9DB5DF-7EF2-9498-4B58-AE4CACD8B563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853C3F-F710-6FE7-1731-670A7C0ACB5B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E55818-26CE-FBF3-A8C6-6E104B1C9C9E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BA587F-DFAA-811F-CBA5-A89DF610D205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0CCDE0B-A39F-95F4-0C85-4994C7A9D971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A629561-FBAB-8005-ADB9-7E5ADA297C47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Méthode de Paul Première Étape : Pré multiplication par </a:t>
            </a:r>
            <a:r>
              <a:rPr kumimoji="0" lang="fr-FR" altLang="en-US" sz="2000" b="1" i="0" u="none" strike="noStrike" cap="none" normalizeH="0" baseline="0" dirty="0" err="1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M01</a:t>
            </a: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−1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D468468-4C7B-60B9-E71F-A56E94ACB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661" y="2479356"/>
            <a:ext cx="1779976" cy="40011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DAE073F-29B0-8B2E-F19E-A8D7DC77D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19" y="3244787"/>
            <a:ext cx="11920362" cy="305944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9682536-BCD6-C9B3-D59B-E3C0BA6495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438" r="48430"/>
          <a:stretch>
            <a:fillRect/>
          </a:stretch>
        </p:blipFill>
        <p:spPr>
          <a:xfrm>
            <a:off x="5606025" y="2831811"/>
            <a:ext cx="180333" cy="40011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06AFA79-3453-6A91-1A76-DC4CE810A8F1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74B803A7-C827-AA02-DFFB-8E0507C13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67829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5FB2B-B3BF-7776-0216-3733D97C6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4D0996F8-C6CD-CB9D-28EE-B2B0C718E45C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3BE5942-BD35-AB72-D8CF-7495322C9C10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745EB81B-AC9E-0E25-BE49-0A11DC9108CC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5CAB69C6-9FB4-7D97-6F4C-E80B020430AA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B3B46AC7-924C-4558-8BBC-2668399927EB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7FAE9404-AB26-2163-27B5-D9215925C538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0AA471FC-664C-9BB4-A875-7037C482E02B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253040D9-27BD-2A79-617F-D21E4E255A6D}"/>
              </a:ext>
            </a:extLst>
          </p:cNvPr>
          <p:cNvSpPr/>
          <p:nvPr/>
        </p:nvSpPr>
        <p:spPr>
          <a:xfrm>
            <a:off x="5758649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7CEEE0-E4FF-250E-383E-CA42C691718F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211405-1C95-E77A-40E4-FF022DC9946F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C026EB-321D-B8FC-1D1C-CE2CF5616530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32A155-DB1E-570E-AA6A-D79BBCC2AB05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2F2316-485B-D861-DC5D-3D48A5A1932D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395B10-F254-E2E7-51BA-6EA298D93668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FB08E2E-7683-D9DF-9ADF-3EA6D063C55A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AD3CC2C-C9F4-4A5B-A4FD-FF32472A7AB8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Méthode de Paul Première Étape : Pré multiplication par </a:t>
            </a:r>
            <a:r>
              <a:rPr kumimoji="0" lang="fr-FR" altLang="en-US" sz="2000" b="1" i="0" u="none" strike="noStrike" cap="none" normalizeH="0" baseline="0" dirty="0" err="1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M01</a:t>
            </a: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−1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1645E0-0CC8-49B5-9880-CE7A4C626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326" y="2670205"/>
            <a:ext cx="5887349" cy="29757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55E517-2332-3209-3FDA-FB7F76CB8397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EE09C51C-1FCF-2691-ECAD-002407DB1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82334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FE597-59C4-DC4B-0563-F225BFF40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94A6F825-443F-1DA2-BBB5-AD6799AD79C6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2DA2C65E-965D-C91B-4FB0-88C99B0DA8DC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50AC586F-3092-5B59-EE4C-381A6A215620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30DF9E44-DAE9-DABF-B9FC-0778F45D93DE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252F0EAB-ED8C-EEB6-CD29-C75C6BA76261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63F7E95A-C346-E1A3-2D15-94995BDBFAF1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12FE8ADB-6B9F-AE48-0996-848E3FC262C5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3E405927-E763-9001-1BEC-B3B188ACFD45}"/>
              </a:ext>
            </a:extLst>
          </p:cNvPr>
          <p:cNvSpPr/>
          <p:nvPr/>
        </p:nvSpPr>
        <p:spPr>
          <a:xfrm>
            <a:off x="5758649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0BC60E-4C91-A042-2865-32B2D86DDF6A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CDBFC7-2084-A7C3-F96B-E17DE36F871F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F55DB6-C922-A59A-E5AB-088DF2F8FED0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8AB179-4414-CBD3-6466-74C22098A2AA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83AC4C-3063-F309-C42E-281DB0729716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5CAF3B-4961-86B2-A44D-112CDEE99FCD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1E56565-F39B-A033-85F8-67494D4F1829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299C8CE-8F6C-8FFD-DDFD-CE54D5A67FBF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Méthode de Paul Première Étape : Pré multiplication par </a:t>
            </a:r>
            <a:r>
              <a:rPr kumimoji="0" lang="fr-FR" altLang="en-US" sz="2000" b="1" i="0" u="none" strike="noStrike" cap="none" normalizeH="0" baseline="0" dirty="0" err="1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M01</a:t>
            </a: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−1</a:t>
            </a:r>
            <a:r>
              <a:rPr lang="fr-FR" alt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 et </a:t>
            </a:r>
            <a:r>
              <a:rPr lang="fr-FR" altLang="en-US" sz="20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M12</a:t>
            </a:r>
            <a:r>
              <a:rPr lang="fr-FR" alt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−1 </a:t>
            </a: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6CE362D5-497E-6891-B2F4-65523EB3C353}"/>
              </a:ext>
            </a:extLst>
          </p:cNvPr>
          <p:cNvGrpSpPr/>
          <p:nvPr/>
        </p:nvGrpSpPr>
        <p:grpSpPr>
          <a:xfrm>
            <a:off x="0" y="2804294"/>
            <a:ext cx="12192000" cy="1955031"/>
            <a:chOff x="0" y="3095407"/>
            <a:chExt cx="12192000" cy="1955031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40DA3C4F-7FE0-C9FF-76F4-4B4F066A3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0083" t="11123" r="24578" b="73704"/>
            <a:stretch>
              <a:fillRect/>
            </a:stretch>
          </p:blipFill>
          <p:spPr>
            <a:xfrm>
              <a:off x="4836776" y="3095407"/>
              <a:ext cx="2026625" cy="491420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6E890028-7238-12C5-0B60-317D7F9DE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1438" r="48430"/>
            <a:stretch>
              <a:fillRect/>
            </a:stretch>
          </p:blipFill>
          <p:spPr>
            <a:xfrm>
              <a:off x="5804369" y="3520058"/>
              <a:ext cx="180333" cy="400110"/>
            </a:xfrm>
            <a:prstGeom prst="rect">
              <a:avLst/>
            </a:prstGeom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BE51AB6E-D76B-9440-272F-3800BCE91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4013532"/>
              <a:ext cx="12192000" cy="1036906"/>
            </a:xfrm>
            <a:prstGeom prst="rect">
              <a:avLst/>
            </a:prstGeom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F0B5B85-578B-E341-463B-EBEC42BD549A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FF2F2854-153C-3B45-9E22-9EACD0C7D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7250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F5475-DA46-504B-D75F-91FBE858E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FF4A8039-451D-D1E3-1C33-94EF9D698113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60F2DB91-8102-C4A0-9FA8-674F30FC5C0B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FB4E9B22-9B55-8086-B631-E00D98EAF2A0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EED6736C-439B-A14D-2227-F17A420119D1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E9310C49-33AE-5044-EADF-95C504DD34FD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B8068845-4BA8-CCFE-5135-B0CA28EDCDFC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33086C03-207F-3E36-FD77-53BCE29187E7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96C92EDB-D172-C41A-C3E4-FBE274C99B1A}"/>
              </a:ext>
            </a:extLst>
          </p:cNvPr>
          <p:cNvSpPr/>
          <p:nvPr/>
        </p:nvSpPr>
        <p:spPr>
          <a:xfrm>
            <a:off x="5758649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322F7F-88D8-DAD4-7A54-A8B3EB585EEF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44F436-7BAA-15CD-FE14-B608BBD1BE37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D9BB7E-B325-1179-A320-0219BCCC20B3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C637D1-1CD0-15C5-1DCE-844857C63FF3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392504-FE0B-C35A-C2C9-09F764EDE19C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528B8B-8741-868E-FD82-3203995849F9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883052C-A4DB-EB8A-3DA7-8BB56FD9F80E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F23BBD3-8F87-7925-BFD5-F8B8C70AEB5A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Méthode de Paul Première Étape : Pré multiplication par </a:t>
            </a:r>
            <a:r>
              <a:rPr kumimoji="0" lang="fr-FR" altLang="en-US" sz="2000" b="1" i="0" u="none" strike="noStrike" cap="none" normalizeH="0" baseline="0" dirty="0" err="1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M01</a:t>
            </a: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−1</a:t>
            </a:r>
            <a:r>
              <a:rPr lang="fr-FR" alt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 et </a:t>
            </a:r>
            <a:r>
              <a:rPr lang="fr-FR" altLang="en-US" sz="20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M12</a:t>
            </a:r>
            <a:r>
              <a:rPr lang="fr-FR" alt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−1 </a:t>
            </a: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B628373-C066-E795-0956-0D3760F6D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099" y="2679411"/>
            <a:ext cx="7163800" cy="288647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39B9FC2-A8C2-F2E6-E543-FAC031DB090B}"/>
              </a:ext>
            </a:extLst>
          </p:cNvPr>
          <p:cNvSpPr/>
          <p:nvPr/>
        </p:nvSpPr>
        <p:spPr>
          <a:xfrm>
            <a:off x="8931934" y="4834022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BFC341-A5AB-90BA-C16B-9197BED355F9}"/>
              </a:ext>
            </a:extLst>
          </p:cNvPr>
          <p:cNvSpPr/>
          <p:nvPr/>
        </p:nvSpPr>
        <p:spPr>
          <a:xfrm>
            <a:off x="8900484" y="3205993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C89E17-62E2-2A93-D763-287E37CAA2A7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C4EDC16C-600D-1C7A-2FE1-50F55CB7C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6635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FC5FE-AD06-6912-0595-E9B96E070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05F7C81B-9992-23E0-D0FA-977E3B4944A0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51A24298-1FDA-AC42-12AB-A78F9301D496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D0B07FEC-DF8A-A35A-D193-BAFF80F47752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8E0C011E-3554-796F-7F5F-E1B3C049D6FB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AA188BA8-57BD-1928-329F-DF73BADAEAAF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C7BD363E-BEA6-5032-5D7C-3B4013A3AA49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3342C6FB-96C9-972E-709C-884EB36D0EF6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C73E214B-574D-6436-B895-1DA9A8F6A72D}"/>
              </a:ext>
            </a:extLst>
          </p:cNvPr>
          <p:cNvSpPr/>
          <p:nvPr/>
        </p:nvSpPr>
        <p:spPr>
          <a:xfrm>
            <a:off x="5758649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D9F6D3-E54A-C070-D3E1-05E27EE3AB02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1922C2-7DE6-EF26-556F-824C6D34997A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F7105D-9604-D1E9-6339-F8D14444072A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E0B0FB-8F2B-812B-418E-1626DCC69316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D8C77D-759D-1095-18A1-A8FCFD78A5CE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5C5A33-3392-709E-1EF4-13AF7205D6EA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C4951D4-C70E-1132-72AF-77E4C352D2A5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5F9AEE4-2452-3462-2DC2-C8F5340EE82D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Méthode de Paul Première Étape : Pré multiplication par </a:t>
            </a:r>
            <a:r>
              <a:rPr kumimoji="0" lang="fr-FR" altLang="en-US" sz="2000" b="1" i="0" u="none" strike="noStrike" cap="none" normalizeH="0" baseline="0" dirty="0" err="1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M01</a:t>
            </a: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−1</a:t>
            </a:r>
            <a:r>
              <a:rPr lang="fr-FR" alt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 et </a:t>
            </a:r>
            <a:r>
              <a:rPr lang="fr-FR" altLang="en-US" sz="20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M12</a:t>
            </a:r>
            <a:r>
              <a:rPr lang="fr-FR" alt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−1 </a:t>
            </a: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37565D-DAB4-DA12-BD77-4BCC1CA97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678" y="2679411"/>
            <a:ext cx="7106642" cy="30103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132341-32AD-E7D8-0FDA-A56492F22D16}"/>
              </a:ext>
            </a:extLst>
          </p:cNvPr>
          <p:cNvSpPr/>
          <p:nvPr/>
        </p:nvSpPr>
        <p:spPr>
          <a:xfrm>
            <a:off x="8980240" y="3140364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8FEE16-6592-6D0C-5FD7-398E89945E84}"/>
              </a:ext>
            </a:extLst>
          </p:cNvPr>
          <p:cNvSpPr/>
          <p:nvPr/>
        </p:nvSpPr>
        <p:spPr>
          <a:xfrm>
            <a:off x="8931934" y="4834022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7FD6D4-C6BD-38BB-3A41-BBF4858B223B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206ABB86-BE1B-CD40-1BBB-6886BA2B9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69436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A681-2A8E-4BB7-40AB-3D70D4D7B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8C7F49B4-832D-597E-3795-FFBFF8581494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8D4FB2F0-26D8-A33B-14B4-1B108FB8BD9F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C0119C14-9593-D5B1-3810-55BD3B38BD4E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954B314D-EC3E-C971-B5AB-7A6C04508048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7C809A66-5985-47FC-13D0-FDE07B3BFB0F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504CE61B-E898-2B7A-ABB8-3C3B0F7E3FA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D36F26D7-58AA-AF2F-436E-2FF0BC2DAB4D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F1AA2FAC-6104-8715-CD25-691366B472D8}"/>
              </a:ext>
            </a:extLst>
          </p:cNvPr>
          <p:cNvSpPr/>
          <p:nvPr/>
        </p:nvSpPr>
        <p:spPr>
          <a:xfrm>
            <a:off x="5758649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942B47-129B-5977-F61E-7084B11CB15B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153EB3-7AF7-FEA7-90C3-1D88D813E79A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1030EF-5CFC-A0D0-6334-A70CA869DB7F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07A863-093C-6186-66DC-5AB0A9892EA9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677795-9C3E-BD44-C203-BFA8274129E3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03259D-D32C-47DA-3E5E-38664EFA7625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C344AE1-7294-6D4B-27AE-DAD38E84BE1F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D0D8E5A-BEDA-BF07-8013-DF45FE314E80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Méthode Géométrique 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620EF9-6CE6-03C4-926C-7FFAFF66D483}"/>
              </a:ext>
            </a:extLst>
          </p:cNvPr>
          <p:cNvSpPr/>
          <p:nvPr/>
        </p:nvSpPr>
        <p:spPr>
          <a:xfrm>
            <a:off x="8980240" y="3140364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7A86B0-5233-56FF-099C-E1C865524AC9}"/>
              </a:ext>
            </a:extLst>
          </p:cNvPr>
          <p:cNvSpPr/>
          <p:nvPr/>
        </p:nvSpPr>
        <p:spPr>
          <a:xfrm>
            <a:off x="8931934" y="4834022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57DDD42-251A-8A39-5BF9-D7EF8A2F1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35" y="2402662"/>
            <a:ext cx="4774688" cy="380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291856A-40D4-1C2C-A448-59FE4040E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983" y="2344915"/>
            <a:ext cx="5344271" cy="159089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A757836-FE4B-E029-E80D-1905C3FB0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238" y="4408415"/>
            <a:ext cx="6906589" cy="13717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003FB12-F416-91D6-943A-BB092FFEF43B}"/>
              </a:ext>
            </a:extLst>
          </p:cNvPr>
          <p:cNvSpPr/>
          <p:nvPr/>
        </p:nvSpPr>
        <p:spPr>
          <a:xfrm>
            <a:off x="11196462" y="523413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ACA36F-9DB5-845C-D371-0E270EE96F91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70916D01-CA4A-FA4E-2157-1F52EDBAC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23938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62CD6-9168-CB1E-82C2-01CF61559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4F6D118C-A270-5DD9-2EA7-3695C8C8C71E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8BD6AE3E-71CA-E8DD-9633-1BD149902AC2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AAE7CB08-FCB1-CD62-3BC2-3C04D37FC4DD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3575F57F-2E1B-FBF6-BEF2-DA2CDAFC8536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49AC5F74-1A1E-D44A-88CF-292D2AF9BFBB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5E52CC40-3E79-283A-254E-C517CBF9B10C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60425B5C-260E-FDA7-5FF1-E8699374D321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07822E63-E858-D497-C124-C7247CACEA50}"/>
              </a:ext>
            </a:extLst>
          </p:cNvPr>
          <p:cNvSpPr/>
          <p:nvPr/>
        </p:nvSpPr>
        <p:spPr>
          <a:xfrm>
            <a:off x="5758649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B1D38C-C53B-04BC-9ABC-1A31E565E9DC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6D74D-33A0-6115-4A67-0A8051C677F8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8C611F-8CAC-5575-0254-4F123432979C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AE392D-51DE-40DA-3067-76B4C5800338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32374D-F239-AE05-A571-33A341A89F34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808E1B-B188-044F-3F1A-D83CE2FF6C6C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8E89FB0-E505-C458-AED2-CDFF4A8E4D6F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65AA5E0-2BEB-0E58-5281-C5540DC19FF2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Méthode Géométrique 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AB257-4D15-4C5D-FF83-573A3ADB21A9}"/>
              </a:ext>
            </a:extLst>
          </p:cNvPr>
          <p:cNvSpPr/>
          <p:nvPr/>
        </p:nvSpPr>
        <p:spPr>
          <a:xfrm>
            <a:off x="8980240" y="3140364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229C2C-C015-29A3-5D62-A8CE1FDE53B0}"/>
              </a:ext>
            </a:extLst>
          </p:cNvPr>
          <p:cNvSpPr/>
          <p:nvPr/>
        </p:nvSpPr>
        <p:spPr>
          <a:xfrm>
            <a:off x="8931934" y="4834022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D8165FC0-F47C-CB2B-D67F-1E9DDA8E74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04"/>
          <a:stretch>
            <a:fillRect/>
          </a:stretch>
        </p:blipFill>
        <p:spPr>
          <a:xfrm>
            <a:off x="5163128" y="1765876"/>
            <a:ext cx="6657451" cy="462484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C8F900F-67CC-8A92-A829-7FDE101EA4D9}"/>
              </a:ext>
            </a:extLst>
          </p:cNvPr>
          <p:cNvSpPr/>
          <p:nvPr/>
        </p:nvSpPr>
        <p:spPr>
          <a:xfrm>
            <a:off x="11196462" y="483402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B82BB2-632F-C083-3FBC-5B8AA06A8848}"/>
              </a:ext>
            </a:extLst>
          </p:cNvPr>
          <p:cNvSpPr/>
          <p:nvPr/>
        </p:nvSpPr>
        <p:spPr>
          <a:xfrm>
            <a:off x="11136838" y="251988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269822-C908-6184-8E3C-B47BF2C4906C}"/>
              </a:ext>
            </a:extLst>
          </p:cNvPr>
          <p:cNvSpPr/>
          <p:nvPr/>
        </p:nvSpPr>
        <p:spPr>
          <a:xfrm>
            <a:off x="11136838" y="5707744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C2A7FDC2-85F6-14C1-90C8-F90E5BA50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35" y="2402662"/>
            <a:ext cx="4774688" cy="380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7224E4C-0094-B15F-C854-56BFA198D024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0BD16D52-56C9-8534-68E3-9DF6F2242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11685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21E46-1C00-BEBA-BD57-78EDB91C8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FFBAFC67-7B1F-D690-3122-003098B133DC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179DF3E-6E44-E4C8-BDA4-0C51887ED803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C24A1FF3-16A5-0F14-E56D-D51F57A00A82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6ACAA910-D203-101B-424A-9BB6DFE41621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BAF2C01A-BCE5-613A-4824-9E6A46871684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5D42711A-DA8E-3AC3-2C91-7DFF0D9899ED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7F4894CA-4388-5835-766C-4540A69F6D77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E40DEB61-4B8E-649A-1C9C-2A0CE392635A}"/>
              </a:ext>
            </a:extLst>
          </p:cNvPr>
          <p:cNvSpPr/>
          <p:nvPr/>
        </p:nvSpPr>
        <p:spPr>
          <a:xfrm>
            <a:off x="5758649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5D8E7B-FFA9-A612-D6D4-82D6CB8EA989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B71DC6-6FA3-8892-C175-4B6D85BF1468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E6F086-3D06-37EB-E470-2AFFFFE1CBAA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5450B8-47F6-1373-938E-C906CED89449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CAF68B-F4AA-3140-60E2-B78A17BAAB79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503CDB-C926-31CB-5FD1-B8816A06C34B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2F6AFBC-CAED-B86E-2FA2-0F0341FB95AC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40A9B95-1EA2-DDBA-BCA4-5E85079987BF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Méthode Géométrique 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255528-7950-CF00-AB8B-478D00DC8E51}"/>
              </a:ext>
            </a:extLst>
          </p:cNvPr>
          <p:cNvSpPr/>
          <p:nvPr/>
        </p:nvSpPr>
        <p:spPr>
          <a:xfrm>
            <a:off x="8980240" y="3140364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3081F9-4A00-EC56-9973-68554C3BF992}"/>
              </a:ext>
            </a:extLst>
          </p:cNvPr>
          <p:cNvSpPr/>
          <p:nvPr/>
        </p:nvSpPr>
        <p:spPr>
          <a:xfrm>
            <a:off x="8931934" y="4834022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20370E-4201-8AD7-4A57-0AA6F92C5997}"/>
              </a:ext>
            </a:extLst>
          </p:cNvPr>
          <p:cNvSpPr/>
          <p:nvPr/>
        </p:nvSpPr>
        <p:spPr>
          <a:xfrm>
            <a:off x="11196462" y="483402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149366-8897-CD92-CB23-6FED1AA6547C}"/>
              </a:ext>
            </a:extLst>
          </p:cNvPr>
          <p:cNvSpPr/>
          <p:nvPr/>
        </p:nvSpPr>
        <p:spPr>
          <a:xfrm>
            <a:off x="11136838" y="251988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56CB2A-39DE-4A7D-491F-1352EE1676F1}"/>
              </a:ext>
            </a:extLst>
          </p:cNvPr>
          <p:cNvSpPr/>
          <p:nvPr/>
        </p:nvSpPr>
        <p:spPr>
          <a:xfrm>
            <a:off x="11136838" y="5707744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28A6C8E-9B82-5476-2868-1495CEB0C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35" y="2402662"/>
            <a:ext cx="4774688" cy="380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9846639-0542-A359-F1C7-70641B344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123" y="2828745"/>
            <a:ext cx="7039957" cy="221963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7D950C0-8956-6509-83B5-2B80A4F7CF63}"/>
              </a:ext>
            </a:extLst>
          </p:cNvPr>
          <p:cNvSpPr/>
          <p:nvPr/>
        </p:nvSpPr>
        <p:spPr>
          <a:xfrm>
            <a:off x="10965803" y="3318068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44577F-EA3D-2354-401A-FB48883B2292}"/>
              </a:ext>
            </a:extLst>
          </p:cNvPr>
          <p:cNvSpPr/>
          <p:nvPr/>
        </p:nvSpPr>
        <p:spPr>
          <a:xfrm>
            <a:off x="10965803" y="4226856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9FAB19-935D-ACAF-37AA-1262B96A30A1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59436902-8366-90E1-5AF1-704B6D32D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00668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F5EE6-DAAB-D032-4DB1-3C49177C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8D5CD4B1-1D5F-6E88-7A75-A960887421FB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0E930074-9AF0-40F3-FD94-CB4482BC2602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DDFEF0EC-A125-D5CB-97E2-C63295036609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64B18563-773C-C4C6-4DE0-3DF7C70E01C2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1A79AF67-BF58-683D-E5CA-D39BD8998E93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215EDFEF-B3AB-7AA0-CA39-651ECA853C6F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FF60EE77-AAB0-E7BD-7AE3-F91F228D689D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A28EF27F-FD4D-E403-ACDB-955C0F00D763}"/>
              </a:ext>
            </a:extLst>
          </p:cNvPr>
          <p:cNvSpPr/>
          <p:nvPr/>
        </p:nvSpPr>
        <p:spPr>
          <a:xfrm>
            <a:off x="8840494" y="90736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12BF77-57E4-2946-61BF-06C27109408C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56B6CB-DA95-73F0-8326-C1B300431A09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66350C-B79D-38AF-8E34-2DEC266F7B9D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57FDBF-641D-1D12-F626-B120A169DC58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B9313-CAF7-62E3-D946-7C1DD12147A9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332467-E932-4029-787E-9526CA273306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1BD53AB-8A76-7951-8256-CA94E8A4ECBA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628C902-F943-8175-814C-E5493435129D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Énergie Cinétique : Partie Translation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4E7AF-B80B-5B69-A527-7C7C0C320C64}"/>
              </a:ext>
            </a:extLst>
          </p:cNvPr>
          <p:cNvSpPr/>
          <p:nvPr/>
        </p:nvSpPr>
        <p:spPr>
          <a:xfrm>
            <a:off x="8980240" y="3140364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71B7F1-95D2-D321-0EBC-CE7818C63793}"/>
              </a:ext>
            </a:extLst>
          </p:cNvPr>
          <p:cNvSpPr/>
          <p:nvPr/>
        </p:nvSpPr>
        <p:spPr>
          <a:xfrm>
            <a:off x="8931934" y="4834022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B0CC2B-454E-3A30-6FE7-CE056B105485}"/>
              </a:ext>
            </a:extLst>
          </p:cNvPr>
          <p:cNvSpPr/>
          <p:nvPr/>
        </p:nvSpPr>
        <p:spPr>
          <a:xfrm>
            <a:off x="11196462" y="483402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E5D26E-082D-68FF-0734-54559DF8C5F0}"/>
              </a:ext>
            </a:extLst>
          </p:cNvPr>
          <p:cNvSpPr/>
          <p:nvPr/>
        </p:nvSpPr>
        <p:spPr>
          <a:xfrm>
            <a:off x="11136838" y="251988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ED486E-2262-F484-F603-0ED723303EE3}"/>
              </a:ext>
            </a:extLst>
          </p:cNvPr>
          <p:cNvSpPr/>
          <p:nvPr/>
        </p:nvSpPr>
        <p:spPr>
          <a:xfrm>
            <a:off x="11136838" y="5707744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E89220-D5CF-78DF-AE7E-7AED1B9962C8}"/>
              </a:ext>
            </a:extLst>
          </p:cNvPr>
          <p:cNvSpPr/>
          <p:nvPr/>
        </p:nvSpPr>
        <p:spPr>
          <a:xfrm>
            <a:off x="10965803" y="3318068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AF6867-2FA2-C4AE-BDB7-1C7FBDB596D9}"/>
              </a:ext>
            </a:extLst>
          </p:cNvPr>
          <p:cNvSpPr/>
          <p:nvPr/>
        </p:nvSpPr>
        <p:spPr>
          <a:xfrm>
            <a:off x="10965803" y="4226856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5E72A902-640F-EF3D-32E6-3777C90F9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000"/>
          <a:stretch>
            <a:fillRect/>
          </a:stretch>
        </p:blipFill>
        <p:spPr>
          <a:xfrm>
            <a:off x="2552206" y="2800225"/>
            <a:ext cx="7087589" cy="188383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FD40049-0F9A-A2FB-5882-B37C661B712D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CD8CE7C9-3D4C-7DF6-754C-005B4235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43374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6147F-19A7-E928-AD9F-9E24D54A9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D9C417EB-B0ED-897F-1F6F-F00F82D0F9FA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6D59B9B4-4C82-90DD-45D8-82CA04C36465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F639BB7A-DE17-0123-B5A0-2DF3D291491C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BA48FA2E-BA47-1D27-16A7-A81B28DC9963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0101CAF4-2C2F-DE88-9032-6FEBE6234497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142B926F-2E24-C4B6-8ADC-08CF780A3457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4F3AB02A-D5B6-030E-0C65-807DF6EEAC97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82EE3502-524A-E591-3370-04856DC23702}"/>
              </a:ext>
            </a:extLst>
          </p:cNvPr>
          <p:cNvSpPr/>
          <p:nvPr/>
        </p:nvSpPr>
        <p:spPr>
          <a:xfrm>
            <a:off x="8840494" y="90736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B41BEC-7478-89B0-DAF1-158CF67F9518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9AB2CF-1043-AB2F-2027-25FFFF4B9FD2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7C233E-A8A9-6688-282C-457A3812EE2D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F5C1B9-31DE-D373-BB62-84CBDB91DB62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863E8E-4D5E-2404-784E-E181793C286E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0498B8-60E3-A5FF-CAD5-25CDCD6AFA6F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EBF72AE-3138-F02B-0ACC-AE593D4DA49D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C7E053-6766-F8C0-8363-90D273343AFB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Énergie Cinétique : Partie Translation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279E77-E75F-9424-2876-259592980E79}"/>
              </a:ext>
            </a:extLst>
          </p:cNvPr>
          <p:cNvSpPr/>
          <p:nvPr/>
        </p:nvSpPr>
        <p:spPr>
          <a:xfrm>
            <a:off x="8980240" y="3140364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CF9DD7-BDDE-D544-55FE-F8F79C142E59}"/>
              </a:ext>
            </a:extLst>
          </p:cNvPr>
          <p:cNvSpPr/>
          <p:nvPr/>
        </p:nvSpPr>
        <p:spPr>
          <a:xfrm>
            <a:off x="8931934" y="4834022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BF140A-19F9-B6E4-0C8B-286A95F04BAD}"/>
              </a:ext>
            </a:extLst>
          </p:cNvPr>
          <p:cNvSpPr/>
          <p:nvPr/>
        </p:nvSpPr>
        <p:spPr>
          <a:xfrm>
            <a:off x="11196462" y="483402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AE3D97-880C-409D-4DEA-23729381862E}"/>
              </a:ext>
            </a:extLst>
          </p:cNvPr>
          <p:cNvSpPr/>
          <p:nvPr/>
        </p:nvSpPr>
        <p:spPr>
          <a:xfrm>
            <a:off x="11136838" y="251988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EE8D5D-19CA-F3D7-DCE3-E13420174021}"/>
              </a:ext>
            </a:extLst>
          </p:cNvPr>
          <p:cNvSpPr/>
          <p:nvPr/>
        </p:nvSpPr>
        <p:spPr>
          <a:xfrm>
            <a:off x="11136838" y="5707744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EEC599-E836-F285-6FF3-09FE28C393E9}"/>
              </a:ext>
            </a:extLst>
          </p:cNvPr>
          <p:cNvSpPr/>
          <p:nvPr/>
        </p:nvSpPr>
        <p:spPr>
          <a:xfrm>
            <a:off x="10965803" y="3318068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DED58E-521A-39A5-3471-E653E263C1A0}"/>
              </a:ext>
            </a:extLst>
          </p:cNvPr>
          <p:cNvSpPr/>
          <p:nvPr/>
        </p:nvSpPr>
        <p:spPr>
          <a:xfrm>
            <a:off x="10965803" y="4226856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3A93CC28-5CEB-D2DD-ECB3-DCDA02819C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34" r="15460" b="-106"/>
          <a:stretch>
            <a:fillRect/>
          </a:stretch>
        </p:blipFill>
        <p:spPr>
          <a:xfrm>
            <a:off x="2286203" y="2205487"/>
            <a:ext cx="6972374" cy="402547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EB1787-7D18-1945-5099-88A4F999AEDA}"/>
              </a:ext>
            </a:extLst>
          </p:cNvPr>
          <p:cNvSpPr>
            <a:spLocks/>
          </p:cNvSpPr>
          <p:nvPr/>
        </p:nvSpPr>
        <p:spPr>
          <a:xfrm>
            <a:off x="0" y="6521041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0BDC181-B06A-5EB6-99B9-01F96C166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20815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62327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9D5E-B747-797E-51B4-FDBB05EA7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BC0EFE82-2123-233D-D107-3968E8AEEE25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2675B1F2-FC01-D484-98A9-F44B4279B3F3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D7FFA9FF-9666-0019-F924-903E3E30648B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E47A83BB-CE84-DE36-E94B-48919C5E4D49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F82DCD91-BF9E-B46A-96AD-EE8E6DB53894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5E4A450F-AA6C-46AF-CC2F-E62D5073D935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2E9D66D6-3950-862F-B10D-BE0438525A97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A5743DBA-0046-785C-3E9E-A9BDF72BE8A2}"/>
              </a:ext>
            </a:extLst>
          </p:cNvPr>
          <p:cNvSpPr/>
          <p:nvPr/>
        </p:nvSpPr>
        <p:spPr>
          <a:xfrm>
            <a:off x="8840494" y="90736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19EFD1-25E3-A831-E82C-06D565FED0F4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2DC98D-1575-9BDB-7A57-B0ED3352AB76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FF226E-AD9B-3BA5-8D16-0FA84EE6DC26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75D54-F9B7-B355-E4F0-BC0BD92627CB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E1B0DF-40C0-0825-23AA-DE3870571430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B8DBCE-9D6F-A026-6437-CBB85A79D087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3FDA839-07B9-A15A-A44C-BBD544779633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905344D-7C98-54E8-F729-63A022A422E0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Énergie Cinétique : Partie Translation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66DBD6-B021-A222-A725-AD7F1D35DE7E}"/>
              </a:ext>
            </a:extLst>
          </p:cNvPr>
          <p:cNvSpPr/>
          <p:nvPr/>
        </p:nvSpPr>
        <p:spPr>
          <a:xfrm>
            <a:off x="8980240" y="3140364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FDD7CF-82C7-EC9E-BF88-57AC54E00675}"/>
              </a:ext>
            </a:extLst>
          </p:cNvPr>
          <p:cNvSpPr/>
          <p:nvPr/>
        </p:nvSpPr>
        <p:spPr>
          <a:xfrm>
            <a:off x="8931934" y="4834022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592EEC-7C85-3942-5458-A2E7670F7DBE}"/>
              </a:ext>
            </a:extLst>
          </p:cNvPr>
          <p:cNvSpPr/>
          <p:nvPr/>
        </p:nvSpPr>
        <p:spPr>
          <a:xfrm>
            <a:off x="11196462" y="483402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C15186-A494-B408-226F-9A16AC4DF3CC}"/>
              </a:ext>
            </a:extLst>
          </p:cNvPr>
          <p:cNvSpPr/>
          <p:nvPr/>
        </p:nvSpPr>
        <p:spPr>
          <a:xfrm>
            <a:off x="11136838" y="5707744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F45125D0-F41B-338A-9924-62B78A118381}"/>
              </a:ext>
            </a:extLst>
          </p:cNvPr>
          <p:cNvGrpSpPr/>
          <p:nvPr/>
        </p:nvGrpSpPr>
        <p:grpSpPr>
          <a:xfrm>
            <a:off x="932854" y="2293594"/>
            <a:ext cx="10326293" cy="3937370"/>
            <a:chOff x="643251" y="2293594"/>
            <a:chExt cx="10326293" cy="3937370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7380A60E-FC60-40CC-D360-83E4FCCCF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1288"/>
            <a:stretch>
              <a:fillRect/>
            </a:stretch>
          </p:blipFill>
          <p:spPr>
            <a:xfrm>
              <a:off x="643251" y="2293594"/>
              <a:ext cx="6687752" cy="3937370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19715DA4-EF39-E30B-B081-22B3DD5E0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67328" y="2377223"/>
              <a:ext cx="3302216" cy="3454542"/>
            </a:xfrm>
            <a:prstGeom prst="rect">
              <a:avLst/>
            </a:prstGeom>
          </p:spPr>
        </p:pic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C093483-0C74-EC19-3129-7B708C053308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DF25EEF-2090-71DE-965F-F61AF006D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04871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FFDDD-4967-F2F1-2B67-5BB7698CE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2C659594-8A59-60BC-70EB-D069E3BEA71F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E6755632-7AE2-233A-4211-705B741D9A35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79C1DC60-D5D2-948D-4A84-B49DC61781C9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A6E1AAB5-8426-1789-1F9A-7F5C1762383C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F6750042-54E2-4566-7CA7-6D8CF0799FFE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8A420D0D-8166-62A5-24A5-8BE68AF754D5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9E9F2F7B-5ECA-8920-2E45-0A05A900296D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723779AC-1B28-0911-3AD4-74B7947FD36E}"/>
              </a:ext>
            </a:extLst>
          </p:cNvPr>
          <p:cNvSpPr/>
          <p:nvPr/>
        </p:nvSpPr>
        <p:spPr>
          <a:xfrm>
            <a:off x="8840494" y="90736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04451A-6AC5-9D1C-6011-592C3BBF8B51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7C209E-3A10-0CAE-BE35-6C9396AE266C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D5141C-B771-0BA4-03B8-860D58F43E71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88B526-BCA6-C8D1-7F30-08B4750041FF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19BB7C-FCBF-02CB-FE62-7575D0D884A5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ECD43D-63B4-5D08-F49E-1BF5C031A856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000956D-4774-23FB-3461-6365CA798CDF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718C01E-E85D-1E1F-212A-A3C4D39FE446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Énergie Cinétique : Partie Translation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6147D9-9E32-2799-8977-7A8A393FD8D1}"/>
              </a:ext>
            </a:extLst>
          </p:cNvPr>
          <p:cNvSpPr/>
          <p:nvPr/>
        </p:nvSpPr>
        <p:spPr>
          <a:xfrm>
            <a:off x="8980240" y="3140364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6DFCC4-3488-FB96-EA32-8B78E3B4F712}"/>
              </a:ext>
            </a:extLst>
          </p:cNvPr>
          <p:cNvSpPr/>
          <p:nvPr/>
        </p:nvSpPr>
        <p:spPr>
          <a:xfrm>
            <a:off x="8931934" y="4834022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BC499E-4109-DDEA-C31E-A2EFCCDC83C5}"/>
              </a:ext>
            </a:extLst>
          </p:cNvPr>
          <p:cNvSpPr/>
          <p:nvPr/>
        </p:nvSpPr>
        <p:spPr>
          <a:xfrm>
            <a:off x="11196462" y="483402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8E87A3-4F81-8294-AA5B-09932D8130A8}"/>
              </a:ext>
            </a:extLst>
          </p:cNvPr>
          <p:cNvSpPr/>
          <p:nvPr/>
        </p:nvSpPr>
        <p:spPr>
          <a:xfrm>
            <a:off x="11136838" y="251988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CBB90C-0261-3047-1DD8-1268C7781653}"/>
              </a:ext>
            </a:extLst>
          </p:cNvPr>
          <p:cNvSpPr/>
          <p:nvPr/>
        </p:nvSpPr>
        <p:spPr>
          <a:xfrm>
            <a:off x="11136838" y="5707744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F823F8-4E94-EA6F-B9BD-C73AE954990F}"/>
              </a:ext>
            </a:extLst>
          </p:cNvPr>
          <p:cNvSpPr/>
          <p:nvPr/>
        </p:nvSpPr>
        <p:spPr>
          <a:xfrm>
            <a:off x="10965803" y="3318068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3A99E7-2947-238F-9444-DF63826A0604}"/>
              </a:ext>
            </a:extLst>
          </p:cNvPr>
          <p:cNvSpPr/>
          <p:nvPr/>
        </p:nvSpPr>
        <p:spPr>
          <a:xfrm>
            <a:off x="10965803" y="4226856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D4FE48D8-F317-8120-3955-A9AD1AB2C5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96" b="77490"/>
          <a:stretch>
            <a:fillRect/>
          </a:stretch>
        </p:blipFill>
        <p:spPr>
          <a:xfrm>
            <a:off x="1306363" y="2557666"/>
            <a:ext cx="6897063" cy="534918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8B540DEA-8400-EC03-1DEE-00B5604A0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016" y="3337690"/>
            <a:ext cx="6780153" cy="2212844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A8FFE245-4381-6DB0-20E1-D10A9F1B43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42" t="7496" r="78335" b="77490"/>
          <a:stretch>
            <a:fillRect/>
          </a:stretch>
        </p:blipFill>
        <p:spPr>
          <a:xfrm>
            <a:off x="2393609" y="4173449"/>
            <a:ext cx="360218" cy="534918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BB89508B-D061-0DDC-D313-18C6BFD5C1AC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2DC8D31D-299D-8ECC-5690-B7A657CBF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290775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101C6-F5FA-6F5D-2C90-BFB9E66E9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6581362C-9534-5406-4A89-B663FB563D39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2AD7AB0A-92D6-2804-25F0-D94A42221446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17FEBE65-4872-1C85-DE73-99092BB6AD8B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1B3B1EC3-D038-F997-8E83-50082BA16A97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810BD3A4-E2AE-23F2-1168-F7C02773B90F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4A0853FF-A285-0429-093C-4E924978C06E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231EDDA6-7B03-BDA8-4E7C-5CB7D5EADF33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56BD8C45-1750-9B67-3608-7FA325B12735}"/>
              </a:ext>
            </a:extLst>
          </p:cNvPr>
          <p:cNvSpPr/>
          <p:nvPr/>
        </p:nvSpPr>
        <p:spPr>
          <a:xfrm>
            <a:off x="8840494" y="90736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780B17-2624-4083-CB04-CD8CAFE867B9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8136AA-9D34-5B22-152A-E4D0F38CFE25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6B0B70-7A20-B68F-A703-10CCE51DA1F8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B18C64-4149-53B4-3147-8F4DA94CEF5B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8E5830-A170-9C58-A907-A5D3037E0DD5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509219-D17D-936E-B406-5CB3A0697F8F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B13D732-70F3-F5DB-7BF2-60F402298B95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871F9F1-49D9-6FB0-0330-70EA09E75F44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Énergie Cinétique : Partie Rotation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37ECB7-9257-FC4F-465D-6ED410D07AD9}"/>
              </a:ext>
            </a:extLst>
          </p:cNvPr>
          <p:cNvSpPr/>
          <p:nvPr/>
        </p:nvSpPr>
        <p:spPr>
          <a:xfrm>
            <a:off x="8980240" y="3140364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3E4AE-53B5-C928-874B-CBBEFB867AFA}"/>
              </a:ext>
            </a:extLst>
          </p:cNvPr>
          <p:cNvSpPr/>
          <p:nvPr/>
        </p:nvSpPr>
        <p:spPr>
          <a:xfrm>
            <a:off x="8931934" y="4834022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760CEB-B865-8A60-1160-C6A7D476F1A7}"/>
              </a:ext>
            </a:extLst>
          </p:cNvPr>
          <p:cNvSpPr/>
          <p:nvPr/>
        </p:nvSpPr>
        <p:spPr>
          <a:xfrm>
            <a:off x="11196462" y="483402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1A0F84-5262-CE1B-370E-F6B76F987019}"/>
              </a:ext>
            </a:extLst>
          </p:cNvPr>
          <p:cNvSpPr/>
          <p:nvPr/>
        </p:nvSpPr>
        <p:spPr>
          <a:xfrm>
            <a:off x="11136838" y="251988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023237-4EB6-CC92-7764-9AFCBACF6777}"/>
              </a:ext>
            </a:extLst>
          </p:cNvPr>
          <p:cNvSpPr/>
          <p:nvPr/>
        </p:nvSpPr>
        <p:spPr>
          <a:xfrm>
            <a:off x="11136838" y="5707744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E50BEA-655B-F6BB-0C00-0D05A219A293}"/>
              </a:ext>
            </a:extLst>
          </p:cNvPr>
          <p:cNvSpPr/>
          <p:nvPr/>
        </p:nvSpPr>
        <p:spPr>
          <a:xfrm>
            <a:off x="10965803" y="3318068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76ADDD-2E99-F14E-2FD4-9ABA3CCD778D}"/>
              </a:ext>
            </a:extLst>
          </p:cNvPr>
          <p:cNvSpPr/>
          <p:nvPr/>
        </p:nvSpPr>
        <p:spPr>
          <a:xfrm>
            <a:off x="10965803" y="4226856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152597E-69D5-7249-79FD-F82FC6696C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61" t="23613" r="31475"/>
          <a:stretch>
            <a:fillRect/>
          </a:stretch>
        </p:blipFill>
        <p:spPr>
          <a:xfrm>
            <a:off x="2318640" y="2725822"/>
            <a:ext cx="3980873" cy="3318653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35E6BB3-D5AA-FC02-6A6F-EE2C92225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513" y="3337690"/>
            <a:ext cx="3848637" cy="153373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60A9D5A-2F1E-DB36-67DE-1D3B803ADECC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23A67D51-096B-4376-A4DF-F37F36733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736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C133-E7D6-AEEF-58A0-63023C97E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4AAA8AB4-88DD-E753-EF71-9875BB00DE55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095CEAC6-499E-186B-4DFA-C49EF801D478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B8DF30DD-2DA4-8782-6C5E-905B8B3B5C17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BA403EEB-108F-329A-D967-F3A94C9B5582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90726826-2FC6-8502-8894-F699B15ABEF6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31031CFF-13EA-0CAD-D5F9-B23F5EA01832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3F2AF883-AAE3-3AA3-67A2-63B015B077F8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8F85F4FB-9D9E-F2FA-1E33-280594E6087E}"/>
              </a:ext>
            </a:extLst>
          </p:cNvPr>
          <p:cNvSpPr/>
          <p:nvPr/>
        </p:nvSpPr>
        <p:spPr>
          <a:xfrm>
            <a:off x="8840494" y="90736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A3AC2-50E2-33B4-3A56-BD632B15E7F0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8938CE-32FB-8909-0CB1-69A428C84745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90DF6F-375A-5286-76DE-17292DEB9B8C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AF227D-FC20-07E4-D4DA-1380AC908E8D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37C88A-3460-F0F5-92AA-F893A5D15160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B63EEB-C38C-76A2-0E72-ADD60067DE78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1F9F555-6BA8-0AD3-7629-B8667F98F18F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68C90AC-D3EE-DC6F-201B-B4B4AEA9E0CF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Énergie Cinétique : Partie Rotation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4623CF-557E-D6D6-6EA6-08053941CC5B}"/>
              </a:ext>
            </a:extLst>
          </p:cNvPr>
          <p:cNvSpPr/>
          <p:nvPr/>
        </p:nvSpPr>
        <p:spPr>
          <a:xfrm>
            <a:off x="8980240" y="3140364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525615-0E62-FE3C-2160-B4697B696B6F}"/>
              </a:ext>
            </a:extLst>
          </p:cNvPr>
          <p:cNvSpPr/>
          <p:nvPr/>
        </p:nvSpPr>
        <p:spPr>
          <a:xfrm>
            <a:off x="8931934" y="4834022"/>
            <a:ext cx="6532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26308C-E3C0-C655-3711-FF21187FB1C6}"/>
              </a:ext>
            </a:extLst>
          </p:cNvPr>
          <p:cNvSpPr/>
          <p:nvPr/>
        </p:nvSpPr>
        <p:spPr>
          <a:xfrm>
            <a:off x="11196462" y="483402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BC9C5-26B1-E45A-BE1E-608246728B5A}"/>
              </a:ext>
            </a:extLst>
          </p:cNvPr>
          <p:cNvSpPr/>
          <p:nvPr/>
        </p:nvSpPr>
        <p:spPr>
          <a:xfrm>
            <a:off x="11136838" y="251988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93EC62-B641-E15C-7B4B-8137960D0DBF}"/>
              </a:ext>
            </a:extLst>
          </p:cNvPr>
          <p:cNvSpPr/>
          <p:nvPr/>
        </p:nvSpPr>
        <p:spPr>
          <a:xfrm>
            <a:off x="11136838" y="5707744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849B5D-8A7D-B03F-2C39-9FDDDE01B5D9}"/>
              </a:ext>
            </a:extLst>
          </p:cNvPr>
          <p:cNvSpPr/>
          <p:nvPr/>
        </p:nvSpPr>
        <p:spPr>
          <a:xfrm>
            <a:off x="10965803" y="3318068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CC46FB-2DA9-2F86-2D07-FC833371A575}"/>
              </a:ext>
            </a:extLst>
          </p:cNvPr>
          <p:cNvSpPr/>
          <p:nvPr/>
        </p:nvSpPr>
        <p:spPr>
          <a:xfrm>
            <a:off x="10965803" y="4226856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59E3929-3E52-9750-1674-FB2B7F21C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47" y="2302491"/>
            <a:ext cx="8109707" cy="4116982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6FC401D-427C-3DAE-9FF0-A9AB93F27585}"/>
              </a:ext>
            </a:extLst>
          </p:cNvPr>
          <p:cNvSpPr/>
          <p:nvPr/>
        </p:nvSpPr>
        <p:spPr>
          <a:xfrm>
            <a:off x="9186729" y="3053819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0C65F4-C68F-C497-5BCC-613B7A9485C6}"/>
              </a:ext>
            </a:extLst>
          </p:cNvPr>
          <p:cNvSpPr/>
          <p:nvPr/>
        </p:nvSpPr>
        <p:spPr>
          <a:xfrm>
            <a:off x="9302058" y="4216249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3ED8AF-3115-D889-0333-C72F4E73DE88}"/>
              </a:ext>
            </a:extLst>
          </p:cNvPr>
          <p:cNvSpPr/>
          <p:nvPr/>
        </p:nvSpPr>
        <p:spPr>
          <a:xfrm>
            <a:off x="9163813" y="5261767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C36FAA-66E7-6B33-CC15-6C005073C300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4A5C4653-5E62-6003-169E-63FB37F0E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151382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0FADD-0DAC-5618-53A4-111D9E7B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F822E812-A2AA-7415-1EA4-F57EC2367F2D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4274F102-5BB0-8031-372E-C1880C9FFEC9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0C6262BB-AB90-CE57-D1F2-D006EC4F8577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00EBB27D-F6ED-0574-F86D-D6365EB2BBC5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D5BC27F1-D204-9E71-79D8-05629918955E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76C91926-3971-2CC1-EC68-F11F871C020D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C8432803-D0E6-C577-7C57-60FF6BCE57A0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41B73BB2-CB7D-3D9D-497C-885ACE331C67}"/>
              </a:ext>
            </a:extLst>
          </p:cNvPr>
          <p:cNvSpPr/>
          <p:nvPr/>
        </p:nvSpPr>
        <p:spPr>
          <a:xfrm>
            <a:off x="8840494" y="90736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35CE1-339C-A0A3-E21E-E6AD72C00806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9A5FB9-E7F5-E0AB-D031-8EBD5B7B6116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54E99-D393-6E3A-C4F7-F523D26F9EA9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B7D54A-F1C9-C6A4-8EE7-01082BAB9AF1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C63098-53F0-3ACA-A68F-6685D0BC5E07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EA6AC0-1953-EC38-793D-DA2F948EADB1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0E057C5-896D-1B75-D30B-14E7D0E8DE07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7A279EF-EDB5-3BE5-79BC-79820B72457E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Énergie Cinétique : Partie Rotation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19FB4E-704C-E85C-7AAF-E7EE28C25248}"/>
              </a:ext>
            </a:extLst>
          </p:cNvPr>
          <p:cNvSpPr/>
          <p:nvPr/>
        </p:nvSpPr>
        <p:spPr>
          <a:xfrm>
            <a:off x="11136838" y="251988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9FD813-79E1-480B-A70A-95D283972254}"/>
              </a:ext>
            </a:extLst>
          </p:cNvPr>
          <p:cNvSpPr/>
          <p:nvPr/>
        </p:nvSpPr>
        <p:spPr>
          <a:xfrm>
            <a:off x="11136838" y="5707744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2430C798-13A5-42D6-831F-B1101B6CC153}"/>
              </a:ext>
            </a:extLst>
          </p:cNvPr>
          <p:cNvGrpSpPr/>
          <p:nvPr/>
        </p:nvGrpSpPr>
        <p:grpSpPr>
          <a:xfrm>
            <a:off x="1291814" y="2725822"/>
            <a:ext cx="4406598" cy="1372103"/>
            <a:chOff x="4241201" y="2681183"/>
            <a:chExt cx="5464093" cy="1505106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C8EB820D-2CC1-F25C-A2DF-F92738BDF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880"/>
            <a:stretch>
              <a:fillRect/>
            </a:stretch>
          </p:blipFill>
          <p:spPr>
            <a:xfrm>
              <a:off x="4535055" y="2690655"/>
              <a:ext cx="5170239" cy="1495634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2969BF8D-1552-E6F3-457D-D296229AF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95282"/>
            <a:stretch>
              <a:fillRect/>
            </a:stretch>
          </p:blipFill>
          <p:spPr>
            <a:xfrm>
              <a:off x="4241201" y="2681183"/>
              <a:ext cx="320428" cy="1495634"/>
            </a:xfrm>
            <a:prstGeom prst="rect">
              <a:avLst/>
            </a:prstGeom>
          </p:spPr>
        </p:pic>
      </p:grpSp>
      <p:pic>
        <p:nvPicPr>
          <p:cNvPr id="37" name="Image 36">
            <a:extLst>
              <a:ext uri="{FF2B5EF4-FFF2-40B4-BE49-F238E27FC236}">
                <a16:creationId xmlns:a16="http://schemas.microsoft.com/office/drawing/2014/main" id="{0FAEEC35-143D-8D47-66DA-172ECBE5B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1" y="4788330"/>
            <a:ext cx="6200972" cy="1184290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23B0CE9B-F633-2729-D5D3-D894BB7DD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299" y="2679411"/>
            <a:ext cx="5763429" cy="1562318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96923F81-3BCB-7AA3-0A65-0F9EC0CB9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2185" y="4594778"/>
            <a:ext cx="3600953" cy="523948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30F6751C-854C-9DA1-DD5C-3E145F05C1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5241" y="5089839"/>
            <a:ext cx="3000794" cy="390580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9E0DF9FF-D435-3471-D528-C44F605131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9131" y="5517105"/>
            <a:ext cx="3667637" cy="381053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07A6FABB-CAD5-A011-E43E-A17BCE4DAC6D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DE25C797-649A-3701-B447-0A8E5660B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015140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9BB23-3D46-95A9-8A2E-380FA4E3B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>
            <a:extLst>
              <a:ext uri="{FF2B5EF4-FFF2-40B4-BE49-F238E27FC236}">
                <a16:creationId xmlns:a16="http://schemas.microsoft.com/office/drawing/2014/main" id="{F6B96FA4-2B84-63A9-86D0-66294A9BB73D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AAE31866-27A6-6FC0-2AF2-1EBB4C9C5CD5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4992E751-323E-0B3C-FE0A-A589B6EC41F4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50C7F6F2-933E-424C-0521-2CFA90FE35D5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970C0668-06F4-88BB-9748-C7BBBD2063FA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52F9E20D-D5A3-E1D5-7A70-64051C2337F6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C2F31370-4D5F-7CE7-7B76-D49E18896E11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6" name="Ellipse 35">
            <a:extLst>
              <a:ext uri="{FF2B5EF4-FFF2-40B4-BE49-F238E27FC236}">
                <a16:creationId xmlns:a16="http://schemas.microsoft.com/office/drawing/2014/main" id="{63857A0C-5958-E332-49D4-CCEF7D8518E4}"/>
              </a:ext>
            </a:extLst>
          </p:cNvPr>
          <p:cNvSpPr/>
          <p:nvPr/>
        </p:nvSpPr>
        <p:spPr>
          <a:xfrm>
            <a:off x="8840494" y="90736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2CAE27-8228-452D-8BE7-A96DC86AD2B3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606DF6-0134-2879-EE5D-2241A8D49E1C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14B4BB-C34A-ECEC-C909-E32402276C0B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6A66A7-F911-926E-DA5E-D39333E4DB86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8227B9-F510-44A0-619C-29D9FE904B73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90C26B-58BF-EC15-73AA-F0734BB2010E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2EFE300-9AD7-2A38-31D3-4F29CED0C3FB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A1C2585-1C6B-B105-9890-5E92934BFCFB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Énergie Cinétique : Partie Rotation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A3C22F-4F2A-59BD-4220-FFF8CD5A7C4D}"/>
              </a:ext>
            </a:extLst>
          </p:cNvPr>
          <p:cNvSpPr/>
          <p:nvPr/>
        </p:nvSpPr>
        <p:spPr>
          <a:xfrm>
            <a:off x="11136838" y="2519882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EF735C-CAD5-B7A3-84B2-D8E9191D7F1F}"/>
              </a:ext>
            </a:extLst>
          </p:cNvPr>
          <p:cNvSpPr/>
          <p:nvPr/>
        </p:nvSpPr>
        <p:spPr>
          <a:xfrm>
            <a:off x="11136838" y="5707744"/>
            <a:ext cx="74336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A5613E7E-FCF7-E5DE-CF6B-A35EF9DD452F}"/>
              </a:ext>
            </a:extLst>
          </p:cNvPr>
          <p:cNvGrpSpPr/>
          <p:nvPr/>
        </p:nvGrpSpPr>
        <p:grpSpPr>
          <a:xfrm>
            <a:off x="1291814" y="2725822"/>
            <a:ext cx="4406598" cy="1372103"/>
            <a:chOff x="4241201" y="2681183"/>
            <a:chExt cx="5464093" cy="1505106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DEC2ECAB-FBE3-907C-1A86-A8F49C3C6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880"/>
            <a:stretch>
              <a:fillRect/>
            </a:stretch>
          </p:blipFill>
          <p:spPr>
            <a:xfrm>
              <a:off x="4535055" y="2690655"/>
              <a:ext cx="5170239" cy="1495634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282BB350-2AFA-4899-8D43-03335F674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95282"/>
            <a:stretch>
              <a:fillRect/>
            </a:stretch>
          </p:blipFill>
          <p:spPr>
            <a:xfrm>
              <a:off x="4241201" y="2681183"/>
              <a:ext cx="320428" cy="1495634"/>
            </a:xfrm>
            <a:prstGeom prst="rect">
              <a:avLst/>
            </a:prstGeom>
          </p:spPr>
        </p:pic>
      </p:grpSp>
      <p:pic>
        <p:nvPicPr>
          <p:cNvPr id="37" name="Image 36">
            <a:extLst>
              <a:ext uri="{FF2B5EF4-FFF2-40B4-BE49-F238E27FC236}">
                <a16:creationId xmlns:a16="http://schemas.microsoft.com/office/drawing/2014/main" id="{704C927F-F162-A186-12F3-2AB3F9A45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1" y="4788330"/>
            <a:ext cx="6200972" cy="1184290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1327A29F-8096-1D64-DA56-3C0465E0E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299" y="2679411"/>
            <a:ext cx="5763429" cy="1562318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FBF32E94-2B70-E514-C469-CEACF1D56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2185" y="4594778"/>
            <a:ext cx="3600953" cy="523948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3ED901C3-AF4E-4CBF-F7C2-DE8B5E4AA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5241" y="5089839"/>
            <a:ext cx="3000794" cy="390580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013C2F95-81A1-2190-BA71-2EB73C75B2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9131" y="5517105"/>
            <a:ext cx="3667637" cy="3810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F4CB7FC-2A85-E936-752E-7FED13DF8417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23C679-939E-F1BC-CC98-BE79D4DC9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104695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8DF97-8670-FFE0-7D2B-48F0B7D37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70EA7FEB-B8A1-E303-8DDE-32453E0854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289"/>
          <a:stretch>
            <a:fillRect/>
          </a:stretch>
        </p:blipFill>
        <p:spPr>
          <a:xfrm>
            <a:off x="2008539" y="2692453"/>
            <a:ext cx="5820281" cy="304842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1A5FBB20-E9BC-19F9-2317-746DCEFD0BA1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Énergie Cinétique : Partie Rotation</a:t>
            </a:r>
            <a:r>
              <a:rPr kumimoji="0" lang="ar-MA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(script)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433AB274-5E83-7A35-0E91-6BC8E52AAA6A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829BC9B4-B88C-AF54-7A36-A7C0F3357916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378FEB52-0610-BCEE-E6A5-7093EB3566FF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906B1577-74E5-AB42-F0BF-E88EB8932BBE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8DEDD863-A374-81B5-18D4-EC27887C5EDB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86D79055-6339-697D-2E24-589D09F687DF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D469ABFF-312C-4E4F-E3A9-DABE61CA5E3F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25" name="Ellipse 24">
            <a:extLst>
              <a:ext uri="{FF2B5EF4-FFF2-40B4-BE49-F238E27FC236}">
                <a16:creationId xmlns:a16="http://schemas.microsoft.com/office/drawing/2014/main" id="{DBCA9803-25AE-2A61-D895-2FEB622FC4D1}"/>
              </a:ext>
            </a:extLst>
          </p:cNvPr>
          <p:cNvSpPr/>
          <p:nvPr/>
        </p:nvSpPr>
        <p:spPr>
          <a:xfrm>
            <a:off x="8840494" y="90736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062B90-6A81-A35F-DE2B-6A5AB560F2DD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FCCBFF-8D3B-6929-FEF7-C98C219D21AE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774A74-4858-E11F-C5F3-F33CAB24F822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5187704-0BC4-539E-C63E-C74F7C3C8D71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ACD5EF2-D82E-D9FA-9ECC-B8BE86F70C29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C40C43F-2959-E895-6636-289A537A9BD0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484BB8AA-713D-A532-6D55-7BB4540C12B0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19024F-ACFD-6CD8-C4A3-5EA817BB1AC4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9AAD2CBC-5FDD-0E66-EB8D-4EEFA0B85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556053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7D878-8CDB-79CE-1667-0CB4B47F0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10">
            <a:extLst>
              <a:ext uri="{FF2B5EF4-FFF2-40B4-BE49-F238E27FC236}">
                <a16:creationId xmlns:a16="http://schemas.microsoft.com/office/drawing/2014/main" id="{6270CE73-316F-DB49-0BBE-3FF4BC44FCD3}"/>
              </a:ext>
            </a:extLst>
          </p:cNvPr>
          <p:cNvSpPr txBox="1"/>
          <p:nvPr/>
        </p:nvSpPr>
        <p:spPr>
          <a:xfrm>
            <a:off x="1921028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Énergie Cinétique (script)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5CAD1CC-5A4B-56FC-5C41-12D209E71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651" y="2815710"/>
            <a:ext cx="9926435" cy="23434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7AC9D36-EDB3-CECE-9427-9C2D4AC121B5}"/>
              </a:ext>
            </a:extLst>
          </p:cNvPr>
          <p:cNvSpPr/>
          <p:nvPr/>
        </p:nvSpPr>
        <p:spPr>
          <a:xfrm>
            <a:off x="10584872" y="3987448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2B540F81-2D26-B5F7-E767-49CCDDF42A2B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99EF5032-CB89-5D16-8297-A704965F4BDE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ED503C31-074B-571C-931A-88454694AA15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5A7D4EC6-C5FC-B9D7-4602-33501F3E6EF7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E2ED880F-FBC6-2EA8-42D4-AA369EC8CC77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1EF68125-DEBF-4409-C059-377DE6E55C93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74BAAC04-0B44-EF37-DABA-67483495F56D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25" name="Ellipse 24">
            <a:extLst>
              <a:ext uri="{FF2B5EF4-FFF2-40B4-BE49-F238E27FC236}">
                <a16:creationId xmlns:a16="http://schemas.microsoft.com/office/drawing/2014/main" id="{FA830AE5-6D12-07F5-E34A-61512DBB726A}"/>
              </a:ext>
            </a:extLst>
          </p:cNvPr>
          <p:cNvSpPr/>
          <p:nvPr/>
        </p:nvSpPr>
        <p:spPr>
          <a:xfrm>
            <a:off x="8840494" y="90736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8005F8-2E98-EC5E-E3BC-43FEDF0AB146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243C32-ABC8-2897-EBF7-2496BE6FCE0D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48C4A5-005C-94BB-20C1-7A56D6EA15A2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104905-D1F4-B55D-3DEF-AC0493D271B8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C15B831-73D9-F425-CA6E-16F1BECDE447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F7BF860-296E-F0D9-B1A8-EF7546DB320D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75FB10E-B744-88F9-C797-4B58DE5B137C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04A7103-E15B-FDC2-C7FB-C59176A2815B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3B0D8F2D-9133-900C-F591-7B867ADDE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191789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41383-9DF1-6E5F-EA09-E28099220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10">
            <a:extLst>
              <a:ext uri="{FF2B5EF4-FFF2-40B4-BE49-F238E27FC236}">
                <a16:creationId xmlns:a16="http://schemas.microsoft.com/office/drawing/2014/main" id="{01348FFA-683C-6510-D034-C92225216F3D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Énergie Potentielle (script)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7A7BC2-2F92-05EE-30D8-1552221F0C9F}"/>
              </a:ext>
            </a:extLst>
          </p:cNvPr>
          <p:cNvSpPr/>
          <p:nvPr/>
        </p:nvSpPr>
        <p:spPr>
          <a:xfrm>
            <a:off x="10584872" y="3987448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30213CB-5B55-2CFF-FC75-271299B1D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50" y="2352959"/>
            <a:ext cx="9659698" cy="153373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C3DC81F-5E6B-C65C-0B90-F87BC02891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49"/>
          <a:stretch>
            <a:fillRect/>
          </a:stretch>
        </p:blipFill>
        <p:spPr>
          <a:xfrm>
            <a:off x="1843384" y="4056944"/>
            <a:ext cx="7268589" cy="1995624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B6048246-AC81-5E03-F50B-399053A5926C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9DF9E773-7C42-D260-88DA-D9551371168F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F573EABA-8267-46B4-AB78-2CCFCE5E5D20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6FA6631F-3B3E-3B34-35C3-E106086C0E87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98162158-998E-7426-4720-E348C4DC07B9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DF46C0D1-8E1E-37DA-FC05-F2AAB5D8FEFC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F8881509-05AD-CEF1-1479-02D510D0CE83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0" name="Ellipse 29">
            <a:extLst>
              <a:ext uri="{FF2B5EF4-FFF2-40B4-BE49-F238E27FC236}">
                <a16:creationId xmlns:a16="http://schemas.microsoft.com/office/drawing/2014/main" id="{2E210A03-C6F4-F2CA-38F2-99CA40DBB349}"/>
              </a:ext>
            </a:extLst>
          </p:cNvPr>
          <p:cNvSpPr/>
          <p:nvPr/>
        </p:nvSpPr>
        <p:spPr>
          <a:xfrm>
            <a:off x="8840494" y="90736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36E5D4-912E-B1BF-4484-6D0D0C945ACB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7750AC-B3C1-B5AB-29A5-075BF98C25EE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2AA7E7-E8AF-94AB-A863-D08D138E9D74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4569F5-481A-E427-40B2-38112A4C1FB1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8FFF26-02F8-EE50-41D8-02FC48CABE8C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1C4A026-1512-9DF2-BE27-D4CDE6AE53E0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0F57F29C-82CD-8E49-AC3A-4E698E74FDBB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48AE4A-38A0-E37E-3397-EFB0097C89D9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BBDFACD6-55BA-CA33-AC26-A25DDDC88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4ECD84-7BB3-67B0-F17A-245FB4F7F923}"/>
              </a:ext>
            </a:extLst>
          </p:cNvPr>
          <p:cNvSpPr/>
          <p:nvPr/>
        </p:nvSpPr>
        <p:spPr>
          <a:xfrm>
            <a:off x="1420290" y="3410528"/>
            <a:ext cx="787199" cy="2378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i="1" dirty="0">
                <a:solidFill>
                  <a:schemeClr val="tx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le bas</a:t>
            </a:r>
            <a:endParaRPr lang="en-US" sz="2400" i="1" dirty="0">
              <a:solidFill>
                <a:schemeClr val="tx1"/>
              </a:solidFill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34097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825CA-7CC4-F6E0-AF51-EDBE7428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10">
            <a:extLst>
              <a:ext uri="{FF2B5EF4-FFF2-40B4-BE49-F238E27FC236}">
                <a16:creationId xmlns:a16="http://schemas.microsoft.com/office/drawing/2014/main" id="{AAA22EFD-9254-3FE1-7EDB-F6E0AD558F86}"/>
              </a:ext>
            </a:extLst>
          </p:cNvPr>
          <p:cNvSpPr txBox="1"/>
          <p:nvPr/>
        </p:nvSpPr>
        <p:spPr>
          <a:xfrm>
            <a:off x="1921027" y="1852100"/>
            <a:ext cx="9356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Lagrangien du Système (script)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D8D50-9083-FEA6-8B2F-966B3DF051A2}"/>
              </a:ext>
            </a:extLst>
          </p:cNvPr>
          <p:cNvSpPr/>
          <p:nvPr/>
        </p:nvSpPr>
        <p:spPr>
          <a:xfrm>
            <a:off x="10584872" y="3987448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7FF34298-39CE-7516-84C6-0A989E75CF72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87F57FB0-4D52-ADD2-5D79-47940E973690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FA339495-40E5-BDF7-FA60-5472EA3BF0B8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Géométrique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Direct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6E2C42FF-E9C4-9ADD-D875-63890BC216E3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94F4D323-AFD4-D340-BB89-38AB7E1CAC17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 Géométrique Inverse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85C2F6B7-C641-8855-BE28-1F7DE832851F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C8CA3EDA-F898-F183-8982-09EAB5C33B84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Modèle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Dynamique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30" name="Ellipse 29">
            <a:extLst>
              <a:ext uri="{FF2B5EF4-FFF2-40B4-BE49-F238E27FC236}">
                <a16:creationId xmlns:a16="http://schemas.microsoft.com/office/drawing/2014/main" id="{B0F71E91-7F74-8ABF-EE9A-04D740B40D49}"/>
              </a:ext>
            </a:extLst>
          </p:cNvPr>
          <p:cNvSpPr/>
          <p:nvPr/>
        </p:nvSpPr>
        <p:spPr>
          <a:xfrm>
            <a:off x="8840494" y="90736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B9C47A-84AC-1F78-FBB0-580740C3DC43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7A5D8D5-8282-6C72-0418-FE2A600B3C55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64C772-0933-AF67-2015-766A05B64B1D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57399F-DF23-19F9-1926-F43883D7D00E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7065D6-AE15-4F80-E871-0492F3545196}"/>
              </a:ext>
            </a:extLst>
          </p:cNvPr>
          <p:cNvSpPr/>
          <p:nvPr/>
        </p:nvSpPr>
        <p:spPr>
          <a:xfrm>
            <a:off x="873335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0646FF-40DF-70E7-9E06-43926477B953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4C725364-7E6A-ACA3-5F9F-0543BB01A466}"/>
              </a:ext>
            </a:extLst>
          </p:cNvPr>
          <p:cNvSpPr txBox="1"/>
          <p:nvPr/>
        </p:nvSpPr>
        <p:spPr>
          <a:xfrm>
            <a:off x="2855016" y="33718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Étude </a:t>
            </a:r>
            <a:r>
              <a:rPr lang="en-US" dirty="0" err="1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théorique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1C799C3-F351-6102-C4A9-6D48F2554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0" y="2679411"/>
            <a:ext cx="9840698" cy="31341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F50938-6297-4500-0845-0F5EFD65F07D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8DAA66C-3B87-29F1-BB6A-6DEEA8E16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30857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F2FD6-ED66-13FC-9B80-E7EBF3456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3468B8D-05C8-55FC-D797-2E6F14078BC9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10BD5E-8E77-CA99-F873-217E595F4097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E41B56-2C26-C1D6-E31B-049CEFD1F78E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687E95-F142-ECE6-7EA6-D9071EA15899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C73EFD-F233-B536-F05C-12579E8B0D35}"/>
              </a:ext>
            </a:extLst>
          </p:cNvPr>
          <p:cNvSpPr/>
          <p:nvPr/>
        </p:nvSpPr>
        <p:spPr>
          <a:xfrm>
            <a:off x="2964871" y="277088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6E5297-8AD5-C5CB-F090-360E37185C1A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862BC12-B951-6A28-BD39-F2C9BCAC93D9}"/>
              </a:ext>
            </a:extLst>
          </p:cNvPr>
          <p:cNvSpPr txBox="1"/>
          <p:nvPr/>
        </p:nvSpPr>
        <p:spPr>
          <a:xfrm>
            <a:off x="3608708" y="337185"/>
            <a:ext cx="289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Modélisation du système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0DD5132C-8353-6DAD-5C36-329301D2B61E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F75C0451-1314-BC92-5392-98798D68D30D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58E5E297-410E-FCE1-690A-76C7A2E78D4C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modélisation dynamique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DEDE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D7DCCFBC-CD34-BA4E-B148-CB51ACBC14A3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F51EF218-602C-514F-48B7-72C3541585D9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géométrie inverse (MGI)</a:t>
              </a:r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17B1A2DF-88AA-88D0-A093-C7D9CD777706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E5E18AAA-C28E-3029-82F8-C5D90B64777D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Intégration de l’algorithme DE dans la simulation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42" name="Ellipse 41">
            <a:extLst>
              <a:ext uri="{FF2B5EF4-FFF2-40B4-BE49-F238E27FC236}">
                <a16:creationId xmlns:a16="http://schemas.microsoft.com/office/drawing/2014/main" id="{42D47F4C-CBD1-BFD3-4D80-E53DB55B9218}"/>
              </a:ext>
            </a:extLst>
          </p:cNvPr>
          <p:cNvSpPr/>
          <p:nvPr/>
        </p:nvSpPr>
        <p:spPr>
          <a:xfrm>
            <a:off x="3000701" y="896146"/>
            <a:ext cx="91440" cy="91440"/>
          </a:xfrm>
          <a:prstGeom prst="ellipse">
            <a:avLst/>
          </a:prstGeom>
          <a:solidFill>
            <a:srgbClr val="DEDEDE"/>
          </a:solidFill>
          <a:ln>
            <a:solidFill>
              <a:srgbClr val="DEDE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2D56B51-FF69-03CB-9691-B8479E1D80AE}"/>
              </a:ext>
            </a:extLst>
          </p:cNvPr>
          <p:cNvSpPr txBox="1"/>
          <p:nvPr/>
        </p:nvSpPr>
        <p:spPr>
          <a:xfrm>
            <a:off x="1921028" y="1852100"/>
            <a:ext cx="24060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en-US" sz="2000" b="1" i="0" u="none" strike="noStrike" cap="none" normalizeH="0" baseline="0" dirty="0">
                <a:ln>
                  <a:noFill/>
                </a:ln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MATLAB/Simulink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82CC66-A812-044B-885D-6FFD1883E1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363"/>
          <a:stretch>
            <a:fillRect/>
          </a:stretch>
        </p:blipFill>
        <p:spPr>
          <a:xfrm>
            <a:off x="769787" y="2600229"/>
            <a:ext cx="7114630" cy="250855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1913AB9-3EFD-29D5-94B0-03AF99CDBA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62" t="48202" r="23595"/>
          <a:stretch>
            <a:fillRect/>
          </a:stretch>
        </p:blipFill>
        <p:spPr>
          <a:xfrm>
            <a:off x="8310719" y="2539468"/>
            <a:ext cx="3542281" cy="26300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7D4DDAD-6704-F5DF-6228-5CC120F18310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25A7C0F-A9E4-1798-1982-F73ACA621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053982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F3656-7CE8-45E4-5ADC-4E701E0E7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C9FB027-6597-18E9-8FE3-0B838A57DF2E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6B6C6D-F974-F914-BDFC-40DFDBD1383A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B773B6-AA75-A9D9-F8FF-E6105E482D6D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A9CF13-F3E9-196E-71A3-6936DA5BF851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3A3068-238A-75AD-E382-A19B966DDB6E}"/>
              </a:ext>
            </a:extLst>
          </p:cNvPr>
          <p:cNvSpPr/>
          <p:nvPr/>
        </p:nvSpPr>
        <p:spPr>
          <a:xfrm>
            <a:off x="2964871" y="277088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598DC7-E3D1-24B6-3EBC-ED368AE8913D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4A3FBFE-D74F-080E-7FC2-1BD0320E5387}"/>
              </a:ext>
            </a:extLst>
          </p:cNvPr>
          <p:cNvSpPr txBox="1"/>
          <p:nvPr/>
        </p:nvSpPr>
        <p:spPr>
          <a:xfrm>
            <a:off x="3608708" y="337185"/>
            <a:ext cx="289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Modélisation du système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387CDF1C-75C5-7312-285A-D31BE717C014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2FC970E8-F57B-0A1D-C8FD-E3FCEAD660F2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rgbClr val="273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1E65D93E-3685-568A-310A-4692582971E3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modélisation dynamique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7375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42192D37-54C4-E5F0-F3CC-6DE6ABFD4A86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B0487171-9364-B06B-2397-514E2FB4F4B8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BFBFBF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géométrie inverse (MGI)</a:t>
              </a:r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452ADC66-3855-6AC6-6BCC-9E1C3BE9D66A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1FAE80F2-53DB-4347-B18B-1FBD67C163B1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Intégration de l’algorithme DE dans la simulation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DEDEDE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42" name="Ellipse 41">
            <a:extLst>
              <a:ext uri="{FF2B5EF4-FFF2-40B4-BE49-F238E27FC236}">
                <a16:creationId xmlns:a16="http://schemas.microsoft.com/office/drawing/2014/main" id="{F36B2561-D3CF-A71B-E765-CFC305D365A9}"/>
              </a:ext>
            </a:extLst>
          </p:cNvPr>
          <p:cNvSpPr/>
          <p:nvPr/>
        </p:nvSpPr>
        <p:spPr>
          <a:xfrm>
            <a:off x="3000701" y="896146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5E76E8ED-9B4A-10E7-0A4E-1B4DA13A2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90" y="2043007"/>
            <a:ext cx="11129818" cy="3199823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91A5C0AB-957D-D5B9-A84D-81BF1A84D9B9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3D221305-0B85-2EC6-07DD-C233AB62A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32008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F8535-7046-6E71-40ED-81C0FC305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19E6520-C795-6D4A-5FC2-FE5585A84C0B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895708-3FB3-B045-D5F5-385077556812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E4459C-117B-3341-5BBF-574E50F94662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5199CF-5DA3-7CE9-D6DF-E6DBF27236E6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39E2A1-D37B-1AD8-8C44-9576F4E3DFB8}"/>
              </a:ext>
            </a:extLst>
          </p:cNvPr>
          <p:cNvSpPr/>
          <p:nvPr/>
        </p:nvSpPr>
        <p:spPr>
          <a:xfrm>
            <a:off x="2964871" y="277088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11309D-9EF5-D6D8-2B54-6813EE226DF5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F6A2154-A124-DEEE-FFDA-2E2951C657B0}"/>
              </a:ext>
            </a:extLst>
          </p:cNvPr>
          <p:cNvSpPr txBox="1"/>
          <p:nvPr/>
        </p:nvSpPr>
        <p:spPr>
          <a:xfrm>
            <a:off x="3608708" y="337185"/>
            <a:ext cx="289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Modélisation du système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6249904A-EC4A-2958-EB83-4DDBFF080411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354A914A-7596-7F66-CA88-086DFB3E3F49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3E1DF923-6CFD-2208-955F-9A65F546FF90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modélisation dynamique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DEDE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DC567A89-7D60-90D2-2318-018028FC596E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273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766A83D9-6B6E-B1CB-7106-A88A8C190774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géométrie inverse (MGI)</a:t>
              </a:r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39EADBFC-5CEC-5167-2A21-1D5660DC133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371BBB3A-7BAD-052E-F379-0943B625820F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Intégration de l’algorithme DE dans la simulation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DEDEDE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42" name="Ellipse 41">
            <a:extLst>
              <a:ext uri="{FF2B5EF4-FFF2-40B4-BE49-F238E27FC236}">
                <a16:creationId xmlns:a16="http://schemas.microsoft.com/office/drawing/2014/main" id="{31CF928B-603B-5AD6-D937-008FDFA404F8}"/>
              </a:ext>
            </a:extLst>
          </p:cNvPr>
          <p:cNvSpPr/>
          <p:nvPr/>
        </p:nvSpPr>
        <p:spPr>
          <a:xfrm>
            <a:off x="5758649" y="89290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A0E31F1-1D39-A780-E7B0-AD4D9E7F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64" y="2098548"/>
            <a:ext cx="11600873" cy="31757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D8AA9D-EE57-FAD8-AC1F-55EA043622CF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952DBCF-5B5D-3B97-67EC-B0EA7097C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524639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1A51-0240-09AD-2CEF-654366CD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936C9B0-C477-F98E-D0BC-37CCE28B99A1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3BEDDB-190A-E990-368F-C78DA384B245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14DCD6-E571-AC27-CB53-DFA33B3C17E9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2178EE-653C-43A7-3190-2FF6F958641C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BE418F-9106-E0BF-2D37-80D517BF6F59}"/>
              </a:ext>
            </a:extLst>
          </p:cNvPr>
          <p:cNvSpPr/>
          <p:nvPr/>
        </p:nvSpPr>
        <p:spPr>
          <a:xfrm>
            <a:off x="2964871" y="277088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CC5127-DC6F-F812-0F43-43340820DB25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70C8F40-8222-BE18-37C4-B1E6899A5654}"/>
              </a:ext>
            </a:extLst>
          </p:cNvPr>
          <p:cNvSpPr txBox="1"/>
          <p:nvPr/>
        </p:nvSpPr>
        <p:spPr>
          <a:xfrm>
            <a:off x="3608708" y="337185"/>
            <a:ext cx="289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Modélisation du système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9A738A7B-C6D1-1F3A-D3DC-42DF1E2A929C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10F75093-405A-B5DF-4706-0975BFA9456A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59E5697B-F9D9-ED8E-786B-91FBAD7C0B63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modélisation dynamique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DEDE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69166587-6012-3577-DF06-CE315B8BB2C3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7F38BD05-823C-ECC8-2128-278D9A023D72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géométrie inverse (MGI)</a:t>
              </a:r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916499E2-51D4-0FDE-F454-8CA021A5620C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273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D046C605-93F6-78C7-4FF2-A58F128D1538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Intégration de l’algorithme DE dans la simulation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27375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42" name="Ellipse 41">
            <a:extLst>
              <a:ext uri="{FF2B5EF4-FFF2-40B4-BE49-F238E27FC236}">
                <a16:creationId xmlns:a16="http://schemas.microsoft.com/office/drawing/2014/main" id="{F8A413F9-AB5C-89F4-32A6-4E8952FC7F05}"/>
              </a:ext>
            </a:extLst>
          </p:cNvPr>
          <p:cNvSpPr/>
          <p:nvPr/>
        </p:nvSpPr>
        <p:spPr>
          <a:xfrm>
            <a:off x="8744601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C2F9969-5CB4-435A-3719-28D5EBDBE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975" y="2111669"/>
            <a:ext cx="9872047" cy="40700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C304736-189D-E2B2-53F7-13880E937529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CD68AC1-C438-F2D6-983C-21550FAF2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397761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FC1B-16D2-0E32-2778-9C9170FB0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5D4606A-481E-8B9B-672F-2CE9AD8E86A0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D17B73-E627-6ED6-A274-B6BF08034630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09BC76-7F83-7666-41C7-ED9030D53B3E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951D4F-E6AD-FC37-8115-A5598DEA5678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841C2B-6091-8A99-F9FB-562AD75F5757}"/>
              </a:ext>
            </a:extLst>
          </p:cNvPr>
          <p:cNvSpPr/>
          <p:nvPr/>
        </p:nvSpPr>
        <p:spPr>
          <a:xfrm>
            <a:off x="2964871" y="277088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7A6F49-69E7-DD06-E3B5-22F15945BF9E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1EABEF8-33B5-C8D7-F49D-CC7D3A9C22B5}"/>
              </a:ext>
            </a:extLst>
          </p:cNvPr>
          <p:cNvSpPr txBox="1"/>
          <p:nvPr/>
        </p:nvSpPr>
        <p:spPr>
          <a:xfrm>
            <a:off x="3608708" y="337185"/>
            <a:ext cx="289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Modélisation du système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37D7F956-BE48-F205-2F31-8D2D23BD97F7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B442DC94-3C49-27A5-77DE-1C6CE747C45B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95E1D2A9-BB96-2FA4-2C07-E466431EE4C3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modélisation dynamique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DEDE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4B8E3E85-3ECC-4520-03F0-2FF61B240D3B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7710C214-4605-CBC2-224A-E429750194C7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géométrie inverse (MGI)</a:t>
              </a:r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1448921A-6316-41B5-1356-B61D1BCA0945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273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4A827E2B-E390-F5A8-082C-1719A51BE90E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Intégration de l’algorithme DE dans la simulation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27375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42" name="Ellipse 41">
            <a:extLst>
              <a:ext uri="{FF2B5EF4-FFF2-40B4-BE49-F238E27FC236}">
                <a16:creationId xmlns:a16="http://schemas.microsoft.com/office/drawing/2014/main" id="{F1E56F77-6F59-2F8E-F0EA-119DC16D46F6}"/>
              </a:ext>
            </a:extLst>
          </p:cNvPr>
          <p:cNvSpPr/>
          <p:nvPr/>
        </p:nvSpPr>
        <p:spPr>
          <a:xfrm>
            <a:off x="8744601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922A30D-BDEB-0297-4E7F-D2851644CF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81"/>
          <a:stretch>
            <a:fillRect/>
          </a:stretch>
        </p:blipFill>
        <p:spPr>
          <a:xfrm>
            <a:off x="220278" y="1786517"/>
            <a:ext cx="5639316" cy="228651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6B44CAB-785A-85C1-9BB9-A6F613C4F1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83"/>
          <a:stretch>
            <a:fillRect/>
          </a:stretch>
        </p:blipFill>
        <p:spPr>
          <a:xfrm>
            <a:off x="161690" y="4073029"/>
            <a:ext cx="5697903" cy="210708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70AADDF-97BC-088F-266E-18E98F84C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806" y="1929289"/>
            <a:ext cx="6013194" cy="243036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459428D-B508-741A-11FD-2B3B0CDAE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3513" y="4440274"/>
            <a:ext cx="5697903" cy="173984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52358B4-7B75-8418-592B-B287F3A40F1B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CD607168-C1C7-B766-E7E6-F77610AFF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921366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B0EC-A7B3-ABA7-9E22-95665AD7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4172273-B90F-5EC3-96BF-D398B9745319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EC3814-1355-B465-474E-AAE1C7D2E68C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160782-A9D5-57FC-5FEF-C73D6668BEF6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2C7A4B-9B54-9F23-A6DE-D5C2BDCC36DF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8F283F-B935-2A12-F18D-FB4835777107}"/>
              </a:ext>
            </a:extLst>
          </p:cNvPr>
          <p:cNvSpPr/>
          <p:nvPr/>
        </p:nvSpPr>
        <p:spPr>
          <a:xfrm>
            <a:off x="2964871" y="277088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F65D65-D3FC-B017-DFE3-35B5ED7EF26C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F3FE9A5-4DC0-41EA-1292-23CFA11E51BC}"/>
              </a:ext>
            </a:extLst>
          </p:cNvPr>
          <p:cNvSpPr txBox="1"/>
          <p:nvPr/>
        </p:nvSpPr>
        <p:spPr>
          <a:xfrm>
            <a:off x="3608708" y="337185"/>
            <a:ext cx="289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Modélisation du système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CC8171A5-5A7E-FD07-056D-ABADF1A910AA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EF3196EB-A129-A011-F54F-678462D3D313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44180678-040B-FFC0-F4CC-F2D457659BBA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modélisation dynamique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DEDE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A61A8888-0563-7F91-5A3F-DA6240B76D52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6753CDDB-1360-EE8B-C512-0E36450C3DE5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géométrie inverse (MGI)</a:t>
              </a:r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A1E3AB21-E7A6-195B-3F8F-487B3FD3A261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273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34C2DA64-02F0-7F3A-CF86-6A404681AE26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Intégration de l’algorithme DE dans la simulation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27375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42" name="Ellipse 41">
            <a:extLst>
              <a:ext uri="{FF2B5EF4-FFF2-40B4-BE49-F238E27FC236}">
                <a16:creationId xmlns:a16="http://schemas.microsoft.com/office/drawing/2014/main" id="{C6913E5F-1BF1-0278-92B4-7A3715F2B347}"/>
              </a:ext>
            </a:extLst>
          </p:cNvPr>
          <p:cNvSpPr/>
          <p:nvPr/>
        </p:nvSpPr>
        <p:spPr>
          <a:xfrm>
            <a:off x="8744601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6FC33E1-79FD-B1B4-B1C7-01E2B817B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028" y="1780944"/>
            <a:ext cx="5306165" cy="110505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79BDF74-5CEF-C48D-BD17-16F6833BD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384" y="2910174"/>
            <a:ext cx="6154009" cy="246731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BE76B61-B13C-9B6B-EC62-6485CCEF7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285" y="5532888"/>
            <a:ext cx="6487430" cy="62873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DDD2839-6C20-DE3E-7A8C-F84521A2978C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A40E392-A9A7-E3D2-8F75-E73311446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241123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F50A0-B818-6254-18CA-AD29086B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D2E4977-3851-29B5-6FB7-A2343C63B462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1D204C-8AAF-9545-AA5E-4CD23BDD49DB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4F4E8F-1414-B2DA-890E-217EF8521281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C0E0A2-3F38-5276-9316-92C60EAE1D8E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7801FE-B4CC-982D-05EC-C2A340AE1F02}"/>
              </a:ext>
            </a:extLst>
          </p:cNvPr>
          <p:cNvSpPr/>
          <p:nvPr/>
        </p:nvSpPr>
        <p:spPr>
          <a:xfrm>
            <a:off x="2964871" y="277088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66EBC2-1FA8-5831-C030-7CC2AA4E5AA4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82AD270-A963-D62C-02BB-1F6177E03015}"/>
              </a:ext>
            </a:extLst>
          </p:cNvPr>
          <p:cNvSpPr txBox="1"/>
          <p:nvPr/>
        </p:nvSpPr>
        <p:spPr>
          <a:xfrm>
            <a:off x="3608708" y="337185"/>
            <a:ext cx="289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Modélisation du système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777F9D28-447C-5C7C-6ED0-B6CE43CDE1DA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A7C9177A-E74B-D238-AF48-CEFC466CCFC1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21405F14-53CF-5984-F96E-5BBAF23A0912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modélisation dynamique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DEDE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476C635D-9F4F-1332-5E6A-79C5229092FB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C09FFBFC-40BA-0F2D-DF65-22502DD2CFBC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géométrie inverse (MGI)</a:t>
              </a:r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4F717142-CD22-A5A3-8933-16779AF6401F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273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B8EE59CA-1B8C-CF90-6259-E8775377E9CF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Intégration de l’algorithme DE dans la simulation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27375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42" name="Ellipse 41">
            <a:extLst>
              <a:ext uri="{FF2B5EF4-FFF2-40B4-BE49-F238E27FC236}">
                <a16:creationId xmlns:a16="http://schemas.microsoft.com/office/drawing/2014/main" id="{EED0DBBD-3413-F55B-068A-12EE4CA333D1}"/>
              </a:ext>
            </a:extLst>
          </p:cNvPr>
          <p:cNvSpPr/>
          <p:nvPr/>
        </p:nvSpPr>
        <p:spPr>
          <a:xfrm>
            <a:off x="8744601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D57E21D-71F5-D85A-7932-0EEE79A7AC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16"/>
          <a:stretch>
            <a:fillRect/>
          </a:stretch>
        </p:blipFill>
        <p:spPr>
          <a:xfrm>
            <a:off x="3458647" y="1782783"/>
            <a:ext cx="5377394" cy="46087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423CC7-1293-EA57-1F01-E5A28C9BD575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B3873AE-7041-338C-7DFC-7DF2A5EF3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912384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8822C-8249-F450-6091-FEC2624D0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C82A49D-2A18-B1B2-1E1D-96EBF65CAE18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38C179-BE4A-F0AC-19AA-834B892BD6E0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4BB22D-ED4F-B337-05DE-560AE6E7BD45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88F9BE-4D36-0F17-1A26-32979B6C0702}"/>
              </a:ext>
            </a:extLst>
          </p:cNvPr>
          <p:cNvSpPr/>
          <p:nvPr/>
        </p:nvSpPr>
        <p:spPr>
          <a:xfrm>
            <a:off x="945840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775BA9-7790-0032-9CC3-BABFEC1B4ABE}"/>
              </a:ext>
            </a:extLst>
          </p:cNvPr>
          <p:cNvSpPr/>
          <p:nvPr/>
        </p:nvSpPr>
        <p:spPr>
          <a:xfrm>
            <a:off x="2964871" y="277088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BC4846-7BD8-4FC1-D5E4-0777C2616FF5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5AD58D6-2249-1BA1-8905-1210B4C11C8D}"/>
              </a:ext>
            </a:extLst>
          </p:cNvPr>
          <p:cNvSpPr txBox="1"/>
          <p:nvPr/>
        </p:nvSpPr>
        <p:spPr>
          <a:xfrm>
            <a:off x="3608708" y="337185"/>
            <a:ext cx="289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Modélisation du système</a:t>
            </a:r>
            <a:endParaRPr lang="en-US" dirty="0">
              <a:solidFill>
                <a:srgbClr val="2737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830B6F43-8B66-2AC0-12B1-9ED33CFEFC47}"/>
              </a:ext>
            </a:extLst>
          </p:cNvPr>
          <p:cNvGrpSpPr/>
          <p:nvPr/>
        </p:nvGrpSpPr>
        <p:grpSpPr>
          <a:xfrm>
            <a:off x="1843384" y="1077794"/>
            <a:ext cx="8505230" cy="562548"/>
            <a:chOff x="1437119" y="1081549"/>
            <a:chExt cx="8505230" cy="562548"/>
          </a:xfrm>
        </p:grpSpPr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293067F2-AD16-A554-E99B-2A2D0DD57E12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63" y="1081549"/>
              <a:ext cx="2250787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92E47FD7-AA39-81CD-E63A-E656DC1DCB64}"/>
                </a:ext>
              </a:extLst>
            </p:cNvPr>
            <p:cNvSpPr txBox="1"/>
            <p:nvPr/>
          </p:nvSpPr>
          <p:spPr>
            <a:xfrm>
              <a:off x="1437119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modélisation dynamique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DEDE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0499171F-48FF-12F2-91BC-C63278CFEA3B}"/>
                </a:ext>
              </a:extLst>
            </p:cNvPr>
            <p:cNvCxnSpPr>
              <a:cxnSpLocks/>
            </p:cNvCxnSpPr>
            <p:nvPr/>
          </p:nvCxnSpPr>
          <p:spPr>
            <a:xfrm>
              <a:off x="4272711" y="1081549"/>
              <a:ext cx="2250787" cy="0"/>
            </a:xfrm>
            <a:prstGeom prst="line">
              <a:avLst/>
            </a:prstGeom>
            <a:ln w="57150"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21692AD2-7E15-51C3-E206-FCB7022D30B4}"/>
                </a:ext>
              </a:extLst>
            </p:cNvPr>
            <p:cNvSpPr txBox="1"/>
            <p:nvPr/>
          </p:nvSpPr>
          <p:spPr>
            <a:xfrm>
              <a:off x="4195067" y="1120877"/>
              <a:ext cx="24060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200" b="1" i="0" u="none" strike="noStrike" cap="none" normalizeH="0" baseline="0" dirty="0">
                  <a:ln>
                    <a:noFill/>
                  </a:ln>
                  <a:solidFill>
                    <a:srgbClr val="DEDEDE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Commande du bras : cas de géométrie inverse (MGI)</a:t>
              </a:r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AF2DF800-B4D1-5F7A-F5F7-F2AE422B03E7}"/>
                </a:ext>
              </a:extLst>
            </p:cNvPr>
            <p:cNvCxnSpPr>
              <a:cxnSpLocks/>
            </p:cNvCxnSpPr>
            <p:nvPr/>
          </p:nvCxnSpPr>
          <p:spPr>
            <a:xfrm>
              <a:off x="6913241" y="1081549"/>
              <a:ext cx="2919017" cy="0"/>
            </a:xfrm>
            <a:prstGeom prst="line">
              <a:avLst/>
            </a:prstGeom>
            <a:ln w="57150">
              <a:solidFill>
                <a:srgbClr val="273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A2800885-E95F-C32C-72BF-6E9CD3ECB83F}"/>
                </a:ext>
              </a:extLst>
            </p:cNvPr>
            <p:cNvSpPr txBox="1"/>
            <p:nvPr/>
          </p:nvSpPr>
          <p:spPr>
            <a:xfrm>
              <a:off x="6825764" y="1120877"/>
              <a:ext cx="311658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en-US" sz="1400" b="1" i="0" u="none" strike="noStrike" cap="none" normalizeH="0" baseline="0" dirty="0">
                  <a:ln>
                    <a:noFill/>
                  </a:ln>
                  <a:solidFill>
                    <a:srgbClr val="273750"/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Intégration de l’algorithme DE dans la simulation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27375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42" name="Ellipse 41">
            <a:extLst>
              <a:ext uri="{FF2B5EF4-FFF2-40B4-BE49-F238E27FC236}">
                <a16:creationId xmlns:a16="http://schemas.microsoft.com/office/drawing/2014/main" id="{069061BA-103E-35C3-744B-FF74FAF4D10B}"/>
              </a:ext>
            </a:extLst>
          </p:cNvPr>
          <p:cNvSpPr/>
          <p:nvPr/>
        </p:nvSpPr>
        <p:spPr>
          <a:xfrm>
            <a:off x="8744601" y="876487"/>
            <a:ext cx="91440" cy="91440"/>
          </a:xfrm>
          <a:prstGeom prst="ellipse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4994921-E38C-F584-C009-1CD48BB19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57" y="1679669"/>
            <a:ext cx="11350886" cy="4568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C59E4D-A1F0-8789-0DBF-8D9C2113DCDB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0CE8525-6271-6A95-E060-DC25B636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627013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AE29-981A-192B-4CDC-DCB463ABA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B6BF0F-97EF-4FB2-9EED-6013945D466F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85EA01-7D2A-290F-454B-C3D33DC77CFF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C29F45-6915-78F7-64E2-121029493B8C}"/>
              </a:ext>
            </a:extLst>
          </p:cNvPr>
          <p:cNvSpPr/>
          <p:nvPr/>
        </p:nvSpPr>
        <p:spPr>
          <a:xfrm>
            <a:off x="1018346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74B069-7B77-49DC-E5F2-34C66E4918FB}"/>
              </a:ext>
            </a:extLst>
          </p:cNvPr>
          <p:cNvSpPr/>
          <p:nvPr/>
        </p:nvSpPr>
        <p:spPr>
          <a:xfrm>
            <a:off x="3689925" y="277087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4F6D8B-4EA6-8278-79CA-08E45E0A9269}"/>
              </a:ext>
            </a:extLst>
          </p:cNvPr>
          <p:cNvSpPr/>
          <p:nvPr/>
        </p:nvSpPr>
        <p:spPr>
          <a:xfrm>
            <a:off x="2964871" y="277088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9AFA15-E017-782C-5864-FA9100F76244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CA8F901-FCA8-18FB-D457-25D36218D14A}"/>
              </a:ext>
            </a:extLst>
          </p:cNvPr>
          <p:cNvSpPr txBox="1"/>
          <p:nvPr/>
        </p:nvSpPr>
        <p:spPr>
          <a:xfrm>
            <a:off x="4376302" y="337184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Simulation et Explication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B56B076-8E6E-6E5F-C861-C63E8E196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833" y="1742385"/>
            <a:ext cx="3768334" cy="337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07213D9-D62F-24C1-F99B-3646F3982251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6C968B83-3B23-75EB-E4F0-42678258B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900444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A4B50-92E5-5780-FD4E-47F094B6F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EE27851-FA21-CEC4-FF86-1528899BCDC0}"/>
              </a:ext>
            </a:extLst>
          </p:cNvPr>
          <p:cNvSpPr/>
          <p:nvPr/>
        </p:nvSpPr>
        <p:spPr>
          <a:xfrm>
            <a:off x="1514763" y="277093"/>
            <a:ext cx="9162473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DE3C5E-2CEC-F4AA-AAD2-BD8B86619E62}"/>
              </a:ext>
            </a:extLst>
          </p:cNvPr>
          <p:cNvSpPr/>
          <p:nvPr/>
        </p:nvSpPr>
        <p:spPr>
          <a:xfrm>
            <a:off x="1514763" y="277093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4E310D-8DA3-9C1D-29D0-983A0DE199F3}"/>
              </a:ext>
            </a:extLst>
          </p:cNvPr>
          <p:cNvSpPr/>
          <p:nvPr/>
        </p:nvSpPr>
        <p:spPr>
          <a:xfrm>
            <a:off x="4414979" y="277087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042080-B707-9BB6-D759-D779D32973FA}"/>
              </a:ext>
            </a:extLst>
          </p:cNvPr>
          <p:cNvSpPr/>
          <p:nvPr/>
        </p:nvSpPr>
        <p:spPr>
          <a:xfrm>
            <a:off x="3689925" y="277087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3603E-19B0-8BF2-ED94-AF84B337AB35}"/>
              </a:ext>
            </a:extLst>
          </p:cNvPr>
          <p:cNvSpPr/>
          <p:nvPr/>
        </p:nvSpPr>
        <p:spPr>
          <a:xfrm>
            <a:off x="2964871" y="277088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43D6EA-13A3-F993-25A0-7E8A1C066B9A}"/>
              </a:ext>
            </a:extLst>
          </p:cNvPr>
          <p:cNvSpPr/>
          <p:nvPr/>
        </p:nvSpPr>
        <p:spPr>
          <a:xfrm>
            <a:off x="2239817" y="277088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886E299-363D-AA1F-DDCB-539BB080019E}"/>
              </a:ext>
            </a:extLst>
          </p:cNvPr>
          <p:cNvSpPr txBox="1"/>
          <p:nvPr/>
        </p:nvSpPr>
        <p:spPr>
          <a:xfrm>
            <a:off x="5140033" y="337184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37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Conclusion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159B117-BB22-63A1-DF04-603A94FC7025}"/>
              </a:ext>
            </a:extLst>
          </p:cNvPr>
          <p:cNvSpPr txBox="1"/>
          <p:nvPr/>
        </p:nvSpPr>
        <p:spPr>
          <a:xfrm>
            <a:off x="1171596" y="2305615"/>
            <a:ext cx="928051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L’optimisation du contrôleur PID par l’algorithme d’évolution différentielle améliore significativement le suivi de trajectoire et la robustesse du bras manipulateur 3 DDL, confirmant l’efficacité de l’approche proposée.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B6C620-C9E3-6D2C-11F8-39AD61AFAFA8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BD4C860-3C5B-CF5E-C9E4-02DCEBBEC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600" b="1" dirty="0">
                <a:solidFill>
                  <a:srgbClr val="FFFFFF"/>
                </a:solidFill>
                <a:latin typeface="Barlow Condensed" panose="00000506000000000000" pitchFamily="2" charset="0"/>
              </a:rPr>
              <a:t>3</a:t>
            </a:r>
            <a:r>
              <a:rPr lang="en-US" sz="1600" b="1" dirty="0">
                <a:solidFill>
                  <a:srgbClr val="FFFFFF"/>
                </a:solidFill>
                <a:latin typeface="Barlow Condensed" panose="00000506000000000000" pitchFamily="2" charset="0"/>
              </a:rPr>
              <a:t>7</a:t>
            </a:r>
            <a:endParaRPr kumimoji="0" lang="en-US" sz="1600" b="1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Barlow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490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882A2-571F-AB0C-7C59-71616ABA8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9B599B-10CD-5278-D8AF-8BF9B2F15993}"/>
              </a:ext>
            </a:extLst>
          </p:cNvPr>
          <p:cNvSpPr/>
          <p:nvPr/>
        </p:nvSpPr>
        <p:spPr>
          <a:xfrm>
            <a:off x="4399004" y="277093"/>
            <a:ext cx="3393992" cy="489527"/>
          </a:xfrm>
          <a:prstGeom prst="rect">
            <a:avLst/>
          </a:prstGeom>
          <a:pattFill prst="narVert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D20323-EE05-FBEB-E85F-108256D8F0C2}"/>
              </a:ext>
            </a:extLst>
          </p:cNvPr>
          <p:cNvSpPr/>
          <p:nvPr/>
        </p:nvSpPr>
        <p:spPr>
          <a:xfrm>
            <a:off x="4399004" y="277087"/>
            <a:ext cx="493776" cy="489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A28257-500E-2C7C-7651-CE3B6B1874A0}"/>
              </a:ext>
            </a:extLst>
          </p:cNvPr>
          <p:cNvSpPr/>
          <p:nvPr/>
        </p:nvSpPr>
        <p:spPr>
          <a:xfrm>
            <a:off x="7299220" y="277090"/>
            <a:ext cx="493776" cy="489527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03CFBA-1D84-305F-E66C-9C083339A101}"/>
              </a:ext>
            </a:extLst>
          </p:cNvPr>
          <p:cNvSpPr/>
          <p:nvPr/>
        </p:nvSpPr>
        <p:spPr>
          <a:xfrm>
            <a:off x="6574166" y="277088"/>
            <a:ext cx="493776" cy="4895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B78D86-B4AB-3C43-A6BE-89B335377871}"/>
              </a:ext>
            </a:extLst>
          </p:cNvPr>
          <p:cNvSpPr/>
          <p:nvPr/>
        </p:nvSpPr>
        <p:spPr>
          <a:xfrm>
            <a:off x="5849112" y="277089"/>
            <a:ext cx="493776" cy="489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16B617-4163-F8FB-00BF-D5381A688B56}"/>
              </a:ext>
            </a:extLst>
          </p:cNvPr>
          <p:cNvSpPr/>
          <p:nvPr/>
        </p:nvSpPr>
        <p:spPr>
          <a:xfrm>
            <a:off x="5124058" y="277087"/>
            <a:ext cx="493776" cy="489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noProof="0" dirty="0">
                <a:latin typeface="Barlow Condensed" panose="00000506000000000000" pitchFamily="2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A237BD9-3E0A-1A92-2EA9-60C2E3843B3B}"/>
              </a:ext>
            </a:extLst>
          </p:cNvPr>
          <p:cNvSpPr txBox="1"/>
          <p:nvPr/>
        </p:nvSpPr>
        <p:spPr>
          <a:xfrm>
            <a:off x="3857983" y="1859339"/>
            <a:ext cx="447603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6"/>
                </a:solidFill>
                <a:latin typeface="Aptos" panose="020B0004020202020204" pitchFamily="34" charset="0"/>
              </a:rPr>
              <a:t>Merci </a:t>
            </a:r>
            <a:r>
              <a:rPr lang="en-US" sz="6600" b="1" dirty="0">
                <a:solidFill>
                  <a:srgbClr val="273750"/>
                </a:solidFill>
                <a:latin typeface="Aptos" panose="020B0004020202020204" pitchFamily="34" charset="0"/>
              </a:rPr>
              <a:t>pour </a:t>
            </a:r>
            <a:br>
              <a:rPr lang="en-US" sz="6600" b="1" dirty="0">
                <a:solidFill>
                  <a:srgbClr val="273750"/>
                </a:solidFill>
                <a:latin typeface="Aptos" panose="020B0004020202020204" pitchFamily="34" charset="0"/>
              </a:rPr>
            </a:br>
            <a:r>
              <a:rPr lang="en-US" sz="6600" b="1" dirty="0" err="1">
                <a:solidFill>
                  <a:srgbClr val="273750"/>
                </a:solidFill>
                <a:latin typeface="Aptos" panose="020B0004020202020204" pitchFamily="34" charset="0"/>
              </a:rPr>
              <a:t>votre</a:t>
            </a:r>
            <a:r>
              <a:rPr lang="en-US" sz="6600" b="1" dirty="0">
                <a:solidFill>
                  <a:srgbClr val="273750"/>
                </a:solidFill>
                <a:latin typeface="Aptos" panose="020B0004020202020204" pitchFamily="34" charset="0"/>
              </a:rPr>
              <a:t> </a:t>
            </a:r>
            <a:br>
              <a:rPr lang="en-US" sz="6600" b="1" dirty="0">
                <a:solidFill>
                  <a:schemeClr val="accent6"/>
                </a:solidFill>
                <a:latin typeface="Aptos" panose="020B0004020202020204" pitchFamily="34" charset="0"/>
              </a:rPr>
            </a:br>
            <a:r>
              <a:rPr lang="en-US" sz="6600" b="1" dirty="0">
                <a:solidFill>
                  <a:schemeClr val="accent2"/>
                </a:solidFill>
                <a:latin typeface="Aptos" panose="020B0004020202020204" pitchFamily="34" charset="0"/>
              </a:rPr>
              <a:t>Attention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F89A23-039B-5CC4-26E7-9B1C5B89EB5E}"/>
              </a:ext>
            </a:extLst>
          </p:cNvPr>
          <p:cNvSpPr>
            <a:spLocks/>
          </p:cNvSpPr>
          <p:nvPr/>
        </p:nvSpPr>
        <p:spPr>
          <a:xfrm>
            <a:off x="0" y="6519672"/>
            <a:ext cx="12192000" cy="338328"/>
          </a:xfrm>
          <a:prstGeom prst="rect">
            <a:avLst/>
          </a:prstGeom>
          <a:solidFill>
            <a:srgbClr val="2737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5A301B4-A8BE-F7FA-1A8B-6FD04ADC8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28" y="6519446"/>
            <a:ext cx="1865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Barlow Condensed" panose="00000506000000000000" pitchFamily="2" charset="0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665042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737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4575</TotalTime>
  <Words>1183</Words>
  <Application>Microsoft Office PowerPoint</Application>
  <PresentationFormat>Grand écran</PresentationFormat>
  <Paragraphs>448</Paragraphs>
  <Slides>39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51" baseType="lpstr">
      <vt:lpstr>Adobe Arabic</vt:lpstr>
      <vt:lpstr>Adobe Caslon Pro</vt:lpstr>
      <vt:lpstr>Aharoni</vt:lpstr>
      <vt:lpstr>Aptos</vt:lpstr>
      <vt:lpstr>Arial</vt:lpstr>
      <vt:lpstr>Barlow Condensed</vt:lpstr>
      <vt:lpstr>Calibri</vt:lpstr>
      <vt:lpstr>Calibri Light</vt:lpstr>
      <vt:lpstr>Cambria Math</vt:lpstr>
      <vt:lpstr>Open Sans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12</cp:revision>
  <dcterms:created xsi:type="dcterms:W3CDTF">2025-07-27T17:39:00Z</dcterms:created>
  <dcterms:modified xsi:type="dcterms:W3CDTF">2026-01-21T15:57:55Z</dcterms:modified>
</cp:coreProperties>
</file>